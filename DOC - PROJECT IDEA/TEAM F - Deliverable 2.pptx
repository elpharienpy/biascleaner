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comments/comment2.xml" ContentType="application/vnd.openxmlformats-officedocument.presentationml.comments+xml"/>
  <Override PartName="/ppt/notesSlides/notesSlide4.xml" ContentType="application/vnd.openxmlformats-officedocument.presentationml.notesSlide+xml"/>
  <Override PartName="/ppt/comments/comment3.xml" ContentType="application/vnd.openxmlformats-officedocument.presentationml.comments+xml"/>
  <Override PartName="/ppt/notesSlides/notesSlide5.xml" ContentType="application/vnd.openxmlformats-officedocument.presentationml.notesSlide+xml"/>
  <Override PartName="/ppt/comments/comment4.xml" ContentType="application/vnd.openxmlformats-officedocument.presentationml.comments+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10"/>
  </p:notesMasterIdLst>
  <p:sldIdLst>
    <p:sldId id="4721" r:id="rId3"/>
    <p:sldId id="4688" r:id="rId4"/>
    <p:sldId id="4722" r:id="rId5"/>
    <p:sldId id="4723" r:id="rId6"/>
    <p:sldId id="4725" r:id="rId7"/>
    <p:sldId id="4724" r:id="rId8"/>
    <p:sldId id="281" r:id="rId9"/>
  </p:sldIdLst>
  <p:sldSz cx="9144000" cy="6858000" type="screen4x3"/>
  <p:notesSz cx="6858000" cy="9144000"/>
  <p:embeddedFontLst>
    <p:embeddedFont>
      <p:font typeface="Arimo" panose="020B0604020202020204" charset="0"/>
      <p:regular r:id="rId11"/>
    </p:embeddedFont>
    <p:embeddedFont>
      <p:font typeface="Arimo Bold" panose="020B0604020202020204" charset="0"/>
      <p:regular r:id="rId12"/>
    </p:embeddedFont>
    <p:embeddedFont>
      <p:font typeface="Play" panose="020B0604020202020204" charset="0"/>
      <p:regular r:id="rId13"/>
      <p:bold r:id="rId14"/>
    </p:embeddedFont>
    <p:embeddedFont>
      <p:font typeface="SF Compact Display" panose="020B0604020202020204"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8" roundtripDataSignature="AMtx7mhlk0/XnveHszIBCL8pUnPsQbYNz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rik Emotte" initials="EE" lastIdx="1" clrIdx="0">
    <p:extLst>
      <p:ext uri="{19B8F6BF-5375-455C-9EA6-DF929625EA0E}">
        <p15:presenceInfo xmlns:p15="http://schemas.microsoft.com/office/powerpoint/2012/main" userId="5f6234f02b38fc9c" providerId="Windows Live"/>
      </p:ext>
    </p:extLst>
  </p:cmAuthor>
  <p:cmAuthor id="2" name="Erik EMOTTE" initials="EE" lastIdx="15" clrIdx="1">
    <p:extLst>
      <p:ext uri="{19B8F6BF-5375-455C-9EA6-DF929625EA0E}">
        <p15:presenceInfo xmlns:p15="http://schemas.microsoft.com/office/powerpoint/2012/main" userId="0e4041009229cdc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447F"/>
    <a:srgbClr val="FF9F00"/>
    <a:srgbClr val="2AA7DA"/>
    <a:srgbClr val="22A6DF"/>
    <a:srgbClr val="23A6DF"/>
    <a:srgbClr val="DA438E"/>
    <a:srgbClr val="905397"/>
    <a:srgbClr val="2596D1"/>
    <a:srgbClr val="35ACED"/>
    <a:srgbClr val="339B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E5D8B1-21AF-47C8-B61E-70E1229D6B4D}" v="12" dt="2025-11-07T16:35:04.47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74" autoAdjust="0"/>
    <p:restoredTop sz="94660"/>
  </p:normalViewPr>
  <p:slideViewPr>
    <p:cSldViewPr snapToGrid="0">
      <p:cViewPr varScale="1">
        <p:scale>
          <a:sx n="63" d="100"/>
          <a:sy n="63" d="100"/>
        </p:scale>
        <p:origin x="62" y="384"/>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3.fntdata"/><Relationship Id="rId72" Type="http://schemas.openxmlformats.org/officeDocument/2006/relationships/theme" Target="theme/theme1.xml"/><Relationship Id="rId3" Type="http://schemas.openxmlformats.org/officeDocument/2006/relationships/slide" Target="slides/slide1.xml"/><Relationship Id="rId68" Type="http://customschemas.google.com/relationships/presentationmetadata" Target="metadata"/><Relationship Id="rId7" Type="http://schemas.openxmlformats.org/officeDocument/2006/relationships/slide" Target="slides/slide5.xml"/><Relationship Id="rId12" Type="http://schemas.openxmlformats.org/officeDocument/2006/relationships/font" Target="fonts/font2.fntdata"/><Relationship Id="rId71"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font" Target="fonts/font6.fntdata"/><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1.fntdata"/><Relationship Id="rId7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font" Target="fonts/font5.fntdata"/><Relationship Id="rId10" Type="http://schemas.openxmlformats.org/officeDocument/2006/relationships/notesMaster" Target="notesMasters/notesMaster1.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4.fntdata"/><Relationship Id="rId6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phaël GASTALDO" userId="27fea8da-a281-4c78-9435-634ecbc09de4" providerId="ADAL" clId="{23E1BA94-71AA-4B3F-A78C-658D34495235}"/>
    <pc:docChg chg="undo custSel addSld delSld modSld sldOrd">
      <pc:chgData name="Raphaël GASTALDO" userId="27fea8da-a281-4c78-9435-634ecbc09de4" providerId="ADAL" clId="{23E1BA94-71AA-4B3F-A78C-658D34495235}" dt="2025-11-07T16:36:01.060" v="230" actId="1076"/>
      <pc:docMkLst>
        <pc:docMk/>
      </pc:docMkLst>
      <pc:sldChg chg="del">
        <pc:chgData name="Raphaël GASTALDO" userId="27fea8da-a281-4c78-9435-634ecbc09de4" providerId="ADAL" clId="{23E1BA94-71AA-4B3F-A78C-658D34495235}" dt="2025-11-07T16:05:55.160" v="197" actId="47"/>
        <pc:sldMkLst>
          <pc:docMk/>
          <pc:sldMk cId="971432153" sldId="4659"/>
        </pc:sldMkLst>
      </pc:sldChg>
      <pc:sldChg chg="addSp modSp mod">
        <pc:chgData name="Raphaël GASTALDO" userId="27fea8da-a281-4c78-9435-634ecbc09de4" providerId="ADAL" clId="{23E1BA94-71AA-4B3F-A78C-658D34495235}" dt="2025-10-22T10:26:42.862" v="5" actId="1076"/>
        <pc:sldMkLst>
          <pc:docMk/>
          <pc:sldMk cId="1690064925" sldId="4722"/>
        </pc:sldMkLst>
        <pc:picChg chg="add mod">
          <ac:chgData name="Raphaël GASTALDO" userId="27fea8da-a281-4c78-9435-634ecbc09de4" providerId="ADAL" clId="{23E1BA94-71AA-4B3F-A78C-658D34495235}" dt="2025-10-22T10:26:42.862" v="5" actId="1076"/>
          <ac:picMkLst>
            <pc:docMk/>
            <pc:sldMk cId="1690064925" sldId="4722"/>
            <ac:picMk id="6" creationId="{C13791C0-C848-C33C-4D18-23768E85B0B4}"/>
          </ac:picMkLst>
        </pc:picChg>
      </pc:sldChg>
      <pc:sldChg chg="modSp mod">
        <pc:chgData name="Raphaël GASTALDO" userId="27fea8da-a281-4c78-9435-634ecbc09de4" providerId="ADAL" clId="{23E1BA94-71AA-4B3F-A78C-658D34495235}" dt="2025-11-07T15:46:44.693" v="185" actId="20577"/>
        <pc:sldMkLst>
          <pc:docMk/>
          <pc:sldMk cId="0" sldId="4723"/>
        </pc:sldMkLst>
        <pc:spChg chg="mod">
          <ac:chgData name="Raphaël GASTALDO" userId="27fea8da-a281-4c78-9435-634ecbc09de4" providerId="ADAL" clId="{23E1BA94-71AA-4B3F-A78C-658D34495235}" dt="2025-10-22T13:26:11.297" v="21" actId="20577"/>
          <ac:spMkLst>
            <pc:docMk/>
            <pc:sldMk cId="0" sldId="4723"/>
            <ac:spMk id="3" creationId="{E1A3DAD9-E7E8-F4E4-E131-E17FD5E60F87}"/>
          </ac:spMkLst>
        </pc:spChg>
        <pc:spChg chg="mod">
          <ac:chgData name="Raphaël GASTALDO" userId="27fea8da-a281-4c78-9435-634ecbc09de4" providerId="ADAL" clId="{23E1BA94-71AA-4B3F-A78C-658D34495235}" dt="2025-11-07T15:46:18.870" v="182"/>
          <ac:spMkLst>
            <pc:docMk/>
            <pc:sldMk cId="0" sldId="4723"/>
            <ac:spMk id="335" creationId="{00000000-0000-0000-0000-000000000000}"/>
          </ac:spMkLst>
        </pc:spChg>
        <pc:spChg chg="mod">
          <ac:chgData name="Raphaël GASTALDO" userId="27fea8da-a281-4c78-9435-634ecbc09de4" providerId="ADAL" clId="{23E1BA94-71AA-4B3F-A78C-658D34495235}" dt="2025-11-07T15:46:44.693" v="185" actId="20577"/>
          <ac:spMkLst>
            <pc:docMk/>
            <pc:sldMk cId="0" sldId="4723"/>
            <ac:spMk id="336" creationId="{00000000-0000-0000-0000-000000000000}"/>
          </ac:spMkLst>
        </pc:spChg>
      </pc:sldChg>
      <pc:sldChg chg="addSp delSp modSp mod">
        <pc:chgData name="Raphaël GASTALDO" userId="27fea8da-a281-4c78-9435-634ecbc09de4" providerId="ADAL" clId="{23E1BA94-71AA-4B3F-A78C-658D34495235}" dt="2025-11-07T16:36:01.060" v="230" actId="1076"/>
        <pc:sldMkLst>
          <pc:docMk/>
          <pc:sldMk cId="0" sldId="4724"/>
        </pc:sldMkLst>
        <pc:spChg chg="mod">
          <ac:chgData name="Raphaël GASTALDO" userId="27fea8da-a281-4c78-9435-634ecbc09de4" providerId="ADAL" clId="{23E1BA94-71AA-4B3F-A78C-658D34495235}" dt="2025-11-07T15:48:54.946" v="196" actId="20577"/>
          <ac:spMkLst>
            <pc:docMk/>
            <pc:sldMk cId="0" sldId="4724"/>
            <ac:spMk id="3" creationId="{CF956F68-6FAE-D8E1-7BFC-46AAAFC5E472}"/>
          </ac:spMkLst>
        </pc:spChg>
        <pc:spChg chg="add mod">
          <ac:chgData name="Raphaël GASTALDO" userId="27fea8da-a281-4c78-9435-634ecbc09de4" providerId="ADAL" clId="{23E1BA94-71AA-4B3F-A78C-658D34495235}" dt="2025-11-07T16:36:01.060" v="230" actId="1076"/>
          <ac:spMkLst>
            <pc:docMk/>
            <pc:sldMk cId="0" sldId="4724"/>
            <ac:spMk id="5" creationId="{0AEDDBA4-EEFA-4B34-EDC7-C71607F424F5}"/>
          </ac:spMkLst>
        </pc:spChg>
        <pc:spChg chg="del mod">
          <ac:chgData name="Raphaël GASTALDO" userId="27fea8da-a281-4c78-9435-634ecbc09de4" providerId="ADAL" clId="{23E1BA94-71AA-4B3F-A78C-658D34495235}" dt="2025-11-07T16:27:09.996" v="203" actId="478"/>
          <ac:spMkLst>
            <pc:docMk/>
            <pc:sldMk cId="0" sldId="4724"/>
            <ac:spMk id="460" creationId="{00000000-0000-0000-0000-000000000000}"/>
          </ac:spMkLst>
        </pc:spChg>
        <pc:picChg chg="add mod">
          <ac:chgData name="Raphaël GASTALDO" userId="27fea8da-a281-4c78-9435-634ecbc09de4" providerId="ADAL" clId="{23E1BA94-71AA-4B3F-A78C-658D34495235}" dt="2025-11-07T16:35:56.356" v="229" actId="1076"/>
          <ac:picMkLst>
            <pc:docMk/>
            <pc:sldMk cId="0" sldId="4724"/>
            <ac:picMk id="4" creationId="{6B1D8FC4-5718-B852-C5A9-B88F7A5E98A5}"/>
          </ac:picMkLst>
        </pc:picChg>
      </pc:sldChg>
      <pc:sldChg chg="add ord">
        <pc:chgData name="Raphaël GASTALDO" userId="27fea8da-a281-4c78-9435-634ecbc09de4" providerId="ADAL" clId="{23E1BA94-71AA-4B3F-A78C-658D34495235}" dt="2025-11-07T16:11:40.496" v="200"/>
        <pc:sldMkLst>
          <pc:docMk/>
          <pc:sldMk cId="2835852380" sldId="4725"/>
        </pc:sldMkLst>
      </pc:sldChg>
      <pc:sldMasterChg chg="delSldLayout">
        <pc:chgData name="Raphaël GASTALDO" userId="27fea8da-a281-4c78-9435-634ecbc09de4" providerId="ADAL" clId="{23E1BA94-71AA-4B3F-A78C-658D34495235}" dt="2025-10-22T13:26:01.187" v="14" actId="47"/>
        <pc:sldMasterMkLst>
          <pc:docMk/>
          <pc:sldMasterMk cId="0" sldId="2147483648"/>
        </pc:sldMasterMkLst>
      </pc:sldMaster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2" dt="2025-10-03T20:42:33.305" idx="11">
    <p:pos x="10" y="10"/>
    <p:text>The mockup allows users to concretely visualize the proposed solution and project themselves into its use.
In the case of Shipmark, it illustrates the principle of how the AI works and helps verify that it properly addresses the issue of ship detection.
Preparing precise questions related to the mockup is essential to gather useful feedback on the proposed solution before actually designing it.</p:text>
    <p:extLst>
      <p:ext uri="{C676402C-5697-4E1C-873F-D02D1690AC5C}">
        <p15:threadingInfo xmlns:p15="http://schemas.microsoft.com/office/powerpoint/2012/main" timeZoneBias="-1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5-10-03T20:47:21.505" idx="12">
    <p:pos x="10" y="10"/>
    <p:text>The interview is a key element to precisely understand users’ expectations.
The interview with Matthieu Gélébart allowed the Shipmark team to gain a better understanding of the role of Maritime Space Controller, his work environment, and the challenges he faces.
Thanks to this exchange, the team was able to clearly identify what he needs to perform his job effectively and pinpoint the main problems to address as a priority — notably the need to know the directions taken by detected ships, a crucial element for maritime surveillance.</p:text>
    <p:extLst>
      <p:ext uri="{C676402C-5697-4E1C-873F-D02D1690AC5C}">
        <p15:threadingInfo xmlns:p15="http://schemas.microsoft.com/office/powerpoint/2012/main" timeZoneBias="-1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5-10-03T20:57:26.838" idx="15">
    <p:pos x="10" y="10"/>
    <p:text>It is essential to understand the users’ problem in order to know which solution should be proposed.
To clarify this problem, the 5W1H method can be used to understand:
What: the problem to solve.
Who: the people concerned.
Where and when: the context in which the problem occurs.
How: the way this problem manifests itself.
Why: why it is an issue and needs to be solved.
This analysis makes it possible to formulate the users’ problem in a single sentence.
For the Shipmark project, this sentence is: “How can we detect ships and their direction, which are difficult to identify in satellite images, in order to significantly improve maritime surveillance and management?”</p:text>
    <p:extLst>
      <p:ext uri="{C676402C-5697-4E1C-873F-D02D1690AC5C}">
        <p15:threadingInfo xmlns:p15="http://schemas.microsoft.com/office/powerpoint/2012/main" timeZoneBias="-12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25-10-03T20:57:26.838" idx="13">
    <p:pos x="10" y="10"/>
    <p:text>It is essential to understand the users’ problem in order to know which solution should be proposed.
To clarify this problem, the 5W1H method can be used to understand:
What: the problem to solve.
Who: the people concerned.
Where and when: the context in which the problem occurs.
How: the way this problem manifests itself.
Why: why it is an issue and needs to be solved.
This analysis makes it possible to formulate the users’ problem in a single sentence.
For the Shipmark project, this sentence is: “How can we detect ships and their direction, which are difficult to identify in satellite images, in order to significantly improve maritime surveillance and management?”</p:text>
    <p:extLst>
      <p:ext uri="{C676402C-5697-4E1C-873F-D02D1690AC5C}">
        <p15:threadingInfo xmlns:p15="http://schemas.microsoft.com/office/powerpoint/2012/main" timeZoneBias="-1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5" name="Google Shape;95;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1124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901e4286ea_0_12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g2901e4286ea_0_12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a:extLst>
            <a:ext uri="{FF2B5EF4-FFF2-40B4-BE49-F238E27FC236}">
              <a16:creationId xmlns:a16="http://schemas.microsoft.com/office/drawing/2014/main" id="{DE71A50F-6EEA-41FB-9E37-A7ABE8FE8D8F}"/>
            </a:ext>
          </a:extLst>
        </p:cNvPr>
        <p:cNvGrpSpPr/>
        <p:nvPr/>
      </p:nvGrpSpPr>
      <p:grpSpPr>
        <a:xfrm>
          <a:off x="0" y="0"/>
          <a:ext cx="0" cy="0"/>
          <a:chOff x="0" y="0"/>
          <a:chExt cx="0" cy="0"/>
        </a:xfrm>
      </p:grpSpPr>
      <p:sp>
        <p:nvSpPr>
          <p:cNvPr id="454" name="Google Shape;454;g2901e4286ea_0_1341:notes">
            <a:extLst>
              <a:ext uri="{FF2B5EF4-FFF2-40B4-BE49-F238E27FC236}">
                <a16:creationId xmlns:a16="http://schemas.microsoft.com/office/drawing/2014/main" id="{1F87A5A0-C641-79B7-0AA5-EAA9AC11F9C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55" name="Google Shape;455;g2901e4286ea_0_1341:notes">
            <a:extLst>
              <a:ext uri="{FF2B5EF4-FFF2-40B4-BE49-F238E27FC236}">
                <a16:creationId xmlns:a16="http://schemas.microsoft.com/office/drawing/2014/main" id="{8B72B886-13BD-C156-C350-D19E2A608F5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30233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2901e4286ea_0_13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55" name="Google Shape;455;g2901e4286ea_0_13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5" name="Google Shape;485;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1A7E0"/>
              </a:buClr>
              <a:buSzPts val="1200"/>
              <a:buFont typeface="Play"/>
              <a:buNone/>
            </a:pPr>
            <a:r>
              <a:rPr lang="fr-FR" sz="1200" b="1">
                <a:solidFill>
                  <a:srgbClr val="21A7E0"/>
                </a:solidFill>
                <a:latin typeface="Play"/>
                <a:ea typeface="Play"/>
                <a:cs typeface="Play"/>
                <a:sym typeface="Play"/>
              </a:rPr>
              <a:t>Merci</a:t>
            </a:r>
            <a:r>
              <a:rPr lang="fr-FR" sz="1200" b="0">
                <a:solidFill>
                  <a:srgbClr val="21A7E0"/>
                </a:solidFill>
                <a:latin typeface="Play"/>
                <a:ea typeface="Play"/>
                <a:cs typeface="Play"/>
                <a:sym typeface="Play"/>
              </a:rPr>
              <a:t> pour votre attention.</a:t>
            </a:r>
            <a:endParaRPr/>
          </a:p>
          <a:p>
            <a:pPr marL="0" marR="0" lvl="0" indent="0" algn="l" rtl="0">
              <a:lnSpc>
                <a:spcPct val="100000"/>
              </a:lnSpc>
              <a:spcBef>
                <a:spcPts val="0"/>
              </a:spcBef>
              <a:spcAft>
                <a:spcPts val="0"/>
              </a:spcAft>
              <a:buClr>
                <a:schemeClr val="dk1"/>
              </a:buClr>
              <a:buSzPts val="1200"/>
              <a:buFont typeface="Calibri"/>
              <a:buNone/>
            </a:pPr>
            <a:endParaRPr sz="1200" b="0">
              <a:solidFill>
                <a:srgbClr val="21A7E0"/>
              </a:solidFill>
              <a:latin typeface="Play"/>
              <a:ea typeface="Play"/>
              <a:cs typeface="Play"/>
              <a:sym typeface="Play"/>
            </a:endParaRPr>
          </a:p>
          <a:p>
            <a:pPr marL="0" lvl="0" indent="0" algn="l" rtl="0">
              <a:spcBef>
                <a:spcPts val="0"/>
              </a:spcBef>
              <a:spcAft>
                <a:spcPts val="0"/>
              </a:spcAft>
              <a:buNone/>
            </a:pPr>
            <a:r>
              <a:rPr lang="fr-FR"/>
              <a:t>Je suis à l’écoute de </a:t>
            </a:r>
            <a:r>
              <a:rPr lang="fr-FR" b="1"/>
              <a:t>vos questions</a:t>
            </a:r>
            <a:r>
              <a:rPr lang="fr-FR"/>
              <a:t>.</a:t>
            </a:r>
            <a:endParaRPr/>
          </a:p>
        </p:txBody>
      </p:sp>
      <p:sp>
        <p:nvSpPr>
          <p:cNvPr id="486" name="Google Shape;486;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fr-FR"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5"/>
        <p:cNvGrpSpPr/>
        <p:nvPr/>
      </p:nvGrpSpPr>
      <p:grpSpPr>
        <a:xfrm>
          <a:off x="0" y="0"/>
          <a:ext cx="0" cy="0"/>
          <a:chOff x="0" y="0"/>
          <a:chExt cx="0" cy="0"/>
        </a:xfrm>
      </p:grpSpPr>
      <p:sp>
        <p:nvSpPr>
          <p:cNvPr id="16" name="Google Shape;16;p14"/>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4"/>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33"/>
        <p:cNvGrpSpPr/>
        <p:nvPr/>
      </p:nvGrpSpPr>
      <p:grpSpPr>
        <a:xfrm>
          <a:off x="0" y="0"/>
          <a:ext cx="0" cy="0"/>
          <a:chOff x="0" y="0"/>
          <a:chExt cx="0" cy="0"/>
        </a:xfrm>
      </p:grpSpPr>
      <p:sp>
        <p:nvSpPr>
          <p:cNvPr id="34" name="Google Shape;34;p1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7"/>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7"/>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40"/>
        <p:cNvGrpSpPr/>
        <p:nvPr/>
      </p:nvGrpSpPr>
      <p:grpSpPr>
        <a:xfrm>
          <a:off x="0" y="0"/>
          <a:ext cx="0" cy="0"/>
          <a:chOff x="0" y="0"/>
          <a:chExt cx="0" cy="0"/>
        </a:xfrm>
      </p:grpSpPr>
      <p:sp>
        <p:nvSpPr>
          <p:cNvPr id="41" name="Google Shape;41;p18"/>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8"/>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8"/>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8"/>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8"/>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54"/>
        <p:cNvGrpSpPr/>
        <p:nvPr/>
      </p:nvGrpSpPr>
      <p:grpSpPr>
        <a:xfrm>
          <a:off x="0" y="0"/>
          <a:ext cx="0" cy="0"/>
          <a:chOff x="0" y="0"/>
          <a:chExt cx="0" cy="0"/>
        </a:xfrm>
      </p:grpSpPr>
      <p:sp>
        <p:nvSpPr>
          <p:cNvPr id="55" name="Google Shape;55;p2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58"/>
        <p:cNvGrpSpPr/>
        <p:nvPr/>
      </p:nvGrpSpPr>
      <p:grpSpPr>
        <a:xfrm>
          <a:off x="0" y="0"/>
          <a:ext cx="0" cy="0"/>
          <a:chOff x="0" y="0"/>
          <a:chExt cx="0" cy="0"/>
        </a:xfrm>
      </p:grpSpPr>
      <p:sp>
        <p:nvSpPr>
          <p:cNvPr id="59" name="Google Shape;59;p21"/>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1"/>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1"/>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65"/>
        <p:cNvGrpSpPr/>
        <p:nvPr/>
      </p:nvGrpSpPr>
      <p:grpSpPr>
        <a:xfrm>
          <a:off x="0" y="0"/>
          <a:ext cx="0" cy="0"/>
          <a:chOff x="0" y="0"/>
          <a:chExt cx="0" cy="0"/>
        </a:xfrm>
      </p:grpSpPr>
      <p:sp>
        <p:nvSpPr>
          <p:cNvPr id="66" name="Google Shape;66;p22"/>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2"/>
          <p:cNvSpPr>
            <a:spLocks noGrp="1"/>
          </p:cNvSpPr>
          <p:nvPr>
            <p:ph type="pic" idx="2"/>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22"/>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72"/>
        <p:cNvGrpSpPr/>
        <p:nvPr/>
      </p:nvGrpSpPr>
      <p:grpSpPr>
        <a:xfrm>
          <a:off x="0" y="0"/>
          <a:ext cx="0" cy="0"/>
          <a:chOff x="0" y="0"/>
          <a:chExt cx="0" cy="0"/>
        </a:xfrm>
      </p:grpSpPr>
      <p:sp>
        <p:nvSpPr>
          <p:cNvPr id="73" name="Google Shape;73;p2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3"/>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78"/>
        <p:cNvGrpSpPr/>
        <p:nvPr/>
      </p:nvGrpSpPr>
      <p:grpSpPr>
        <a:xfrm>
          <a:off x="0" y="0"/>
          <a:ext cx="0" cy="0"/>
          <a:chOff x="0" y="0"/>
          <a:chExt cx="0" cy="0"/>
        </a:xfrm>
      </p:grpSpPr>
      <p:sp>
        <p:nvSpPr>
          <p:cNvPr id="79" name="Google Shape;79;p24"/>
          <p:cNvSpPr txBox="1">
            <a:spLocks noGrp="1"/>
          </p:cNvSpPr>
          <p:nvPr>
            <p:ph type="title"/>
          </p:nvPr>
        </p:nvSpPr>
        <p:spPr>
          <a:xfrm rot="5400000">
            <a:off x="4623593" y="2285206"/>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4"/>
          <p:cNvSpPr txBox="1">
            <a:spLocks noGrp="1"/>
          </p:cNvSpPr>
          <p:nvPr>
            <p:ph type="body" idx="1"/>
          </p:nvPr>
        </p:nvSpPr>
        <p:spPr>
          <a:xfrm rot="5400000">
            <a:off x="623093"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de section" type="secHead">
  <p:cSld name="Titre de section">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‹N°›</a:t>
            </a:fld>
            <a:endParaRPr/>
          </a:p>
        </p:txBody>
      </p:sp>
    </p:spTree>
    <p:extLst>
      <p:ext uri="{BB962C8B-B14F-4D97-AF65-F5344CB8AC3E}">
        <p14:creationId xmlns:p14="http://schemas.microsoft.com/office/powerpoint/2010/main" val="3918439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iapositive de titre" type="title">
  <p:cSld name="Diapositive de titre">
    <p:spTree>
      <p:nvGrpSpPr>
        <p:cNvPr id="1" name="Shape 15"/>
        <p:cNvGrpSpPr/>
        <p:nvPr/>
      </p:nvGrpSpPr>
      <p:grpSpPr>
        <a:xfrm>
          <a:off x="0" y="0"/>
          <a:ext cx="0" cy="0"/>
          <a:chOff x="0" y="0"/>
          <a:chExt cx="0" cy="0"/>
        </a:xfrm>
      </p:grpSpPr>
      <p:sp>
        <p:nvSpPr>
          <p:cNvPr id="16" name="Google Shape;16;p20"/>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18" name="Google Shape;18;p2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72721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re et contenu" type="obj">
  <p:cSld name="Titre et contenu">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24" name="Google Shape;24;p2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26148199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re de section" type="secHead">
  <p:cSld name="Titre de section">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888888"/>
              </a:buClr>
              <a:buSzPts val="2400"/>
              <a:buNone/>
              <a:defRPr sz="1800">
                <a:solidFill>
                  <a:srgbClr val="888888"/>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30" name="Google Shape;30;p2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19464198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eux contenus" type="twoObj">
  <p:cSld name="Deux contenus">
    <p:spTree>
      <p:nvGrpSpPr>
        <p:cNvPr id="1" name="Shape 33"/>
        <p:cNvGrpSpPr/>
        <p:nvPr/>
      </p:nvGrpSpPr>
      <p:grpSpPr>
        <a:xfrm>
          <a:off x="0" y="0"/>
          <a:ext cx="0" cy="0"/>
          <a:chOff x="0" y="0"/>
          <a:chExt cx="0" cy="0"/>
        </a:xfrm>
      </p:grpSpPr>
      <p:sp>
        <p:nvSpPr>
          <p:cNvPr id="34" name="Google Shape;34;p2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3"/>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6" name="Google Shape;36;p23"/>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7" name="Google Shape;37;p2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27397347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aison" type="twoTxTwoObj">
  <p:cSld name="Comparaison">
    <p:spTree>
      <p:nvGrpSpPr>
        <p:cNvPr id="1" name="Shape 40"/>
        <p:cNvGrpSpPr/>
        <p:nvPr/>
      </p:nvGrpSpPr>
      <p:grpSpPr>
        <a:xfrm>
          <a:off x="0" y="0"/>
          <a:ext cx="0" cy="0"/>
          <a:chOff x="0" y="0"/>
          <a:chExt cx="0" cy="0"/>
        </a:xfrm>
      </p:grpSpPr>
      <p:sp>
        <p:nvSpPr>
          <p:cNvPr id="41" name="Google Shape;41;p24"/>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4"/>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43" name="Google Shape;43;p24"/>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4" name="Google Shape;44;p24"/>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45" name="Google Shape;45;p24"/>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6" name="Google Shape;46;p2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31670958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re seul" type="titleOnly">
  <p:cSld name="Titre seul">
    <p:spTree>
      <p:nvGrpSpPr>
        <p:cNvPr id="1" name="Shape 49"/>
        <p:cNvGrpSpPr/>
        <p:nvPr/>
      </p:nvGrpSpPr>
      <p:grpSpPr>
        <a:xfrm>
          <a:off x="0" y="0"/>
          <a:ext cx="0" cy="0"/>
          <a:chOff x="0" y="0"/>
          <a:chExt cx="0" cy="0"/>
        </a:xfrm>
      </p:grpSpPr>
      <p:sp>
        <p:nvSpPr>
          <p:cNvPr id="50" name="Google Shape;50;p2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6074199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ide" type="blank">
  <p:cSld name="Vide">
    <p:spTree>
      <p:nvGrpSpPr>
        <p:cNvPr id="1" name="Shape 54"/>
        <p:cNvGrpSpPr/>
        <p:nvPr/>
      </p:nvGrpSpPr>
      <p:grpSpPr>
        <a:xfrm>
          <a:off x="0" y="0"/>
          <a:ext cx="0" cy="0"/>
          <a:chOff x="0" y="0"/>
          <a:chExt cx="0" cy="0"/>
        </a:xfrm>
      </p:grpSpPr>
      <p:sp>
        <p:nvSpPr>
          <p:cNvPr id="55" name="Google Shape;55;p2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20711442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u avec légende" type="objTx">
  <p:cSld name="Contenu avec légende">
    <p:spTree>
      <p:nvGrpSpPr>
        <p:cNvPr id="1" name="Shape 58"/>
        <p:cNvGrpSpPr/>
        <p:nvPr/>
      </p:nvGrpSpPr>
      <p:grpSpPr>
        <a:xfrm>
          <a:off x="0" y="0"/>
          <a:ext cx="0" cy="0"/>
          <a:chOff x="0" y="0"/>
          <a:chExt cx="0" cy="0"/>
        </a:xfrm>
      </p:grpSpPr>
      <p:sp>
        <p:nvSpPr>
          <p:cNvPr id="59" name="Google Shape;59;p27"/>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7"/>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endParaRPr/>
          </a:p>
        </p:txBody>
      </p:sp>
      <p:sp>
        <p:nvSpPr>
          <p:cNvPr id="61" name="Google Shape;61;p27"/>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2" name="Google Shape;62;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9065651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Image avec légende" type="picTx">
  <p:cSld name="Image avec légende">
    <p:spTree>
      <p:nvGrpSpPr>
        <p:cNvPr id="1" name="Shape 65"/>
        <p:cNvGrpSpPr/>
        <p:nvPr/>
      </p:nvGrpSpPr>
      <p:grpSpPr>
        <a:xfrm>
          <a:off x="0" y="0"/>
          <a:ext cx="0" cy="0"/>
          <a:chOff x="0" y="0"/>
          <a:chExt cx="0" cy="0"/>
        </a:xfrm>
      </p:grpSpPr>
      <p:sp>
        <p:nvSpPr>
          <p:cNvPr id="66" name="Google Shape;66;p28"/>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8"/>
          <p:cNvSpPr>
            <a:spLocks noGrp="1"/>
          </p:cNvSpPr>
          <p:nvPr>
            <p:ph type="pic" idx="2"/>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750"/>
              </a:spcBef>
              <a:spcAft>
                <a:spcPts val="0"/>
              </a:spcAft>
              <a:buClr>
                <a:schemeClr val="dk1"/>
              </a:buClr>
              <a:buSzPts val="32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8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4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28"/>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9" name="Google Shape;69;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3887325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re et texte vertical" type="vertTx">
  <p:cSld name="Titre et texte vertical">
    <p:spTree>
      <p:nvGrpSpPr>
        <p:cNvPr id="1" name="Shape 72"/>
        <p:cNvGrpSpPr/>
        <p:nvPr/>
      </p:nvGrpSpPr>
      <p:grpSpPr>
        <a:xfrm>
          <a:off x="0" y="0"/>
          <a:ext cx="0" cy="0"/>
          <a:chOff x="0" y="0"/>
          <a:chExt cx="0" cy="0"/>
        </a:xfrm>
      </p:grpSpPr>
      <p:sp>
        <p:nvSpPr>
          <p:cNvPr id="73" name="Google Shape;73;p2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9"/>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5" name="Google Shape;75;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22130929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Titre vertical et texte">
    <p:spTree>
      <p:nvGrpSpPr>
        <p:cNvPr id="1" name="Shape 78"/>
        <p:cNvGrpSpPr/>
        <p:nvPr/>
      </p:nvGrpSpPr>
      <p:grpSpPr>
        <a:xfrm>
          <a:off x="0" y="0"/>
          <a:ext cx="0" cy="0"/>
          <a:chOff x="0" y="0"/>
          <a:chExt cx="0" cy="0"/>
        </a:xfrm>
      </p:grpSpPr>
      <p:sp>
        <p:nvSpPr>
          <p:cNvPr id="79" name="Google Shape;79;p30"/>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0"/>
          <p:cNvSpPr txBox="1">
            <a:spLocks noGrp="1"/>
          </p:cNvSpPr>
          <p:nvPr>
            <p:ph type="body" idx="1"/>
          </p:nvPr>
        </p:nvSpPr>
        <p:spPr>
          <a:xfrm rot="5400000">
            <a:off x="623094" y="370682"/>
            <a:ext cx="5811838" cy="580072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1" name="Google Shape;81;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2610240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7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9"/>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3" name="Google Shape;13;p1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4" name="Google Shape;14;p1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2745179767"/>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0.xml"/><Relationship Id="rId5" Type="http://schemas.openxmlformats.org/officeDocument/2006/relationships/comments" Target="../comments/commen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comments" Target="../comments/commen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comments" Target="../comments/commen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0.xml"/><Relationship Id="rId5" Type="http://schemas.openxmlformats.org/officeDocument/2006/relationships/comments" Target="../comments/comment4.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hyperlink" Target="mailto:mailtoerik.emotte@comind.fr" TargetMode="External"/><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mailto:eemotte@organiserlinnovation.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pSp>
        <p:nvGrpSpPr>
          <p:cNvPr id="19" name="Group 2">
            <a:extLst>
              <a:ext uri="{FF2B5EF4-FFF2-40B4-BE49-F238E27FC236}">
                <a16:creationId xmlns:a16="http://schemas.microsoft.com/office/drawing/2014/main" id="{46BD90BB-590A-686D-8700-CB0C59A1BE4C}"/>
              </a:ext>
            </a:extLst>
          </p:cNvPr>
          <p:cNvGrpSpPr>
            <a:grpSpLocks noChangeAspect="1"/>
          </p:cNvGrpSpPr>
          <p:nvPr/>
        </p:nvGrpSpPr>
        <p:grpSpPr>
          <a:xfrm>
            <a:off x="2130336" y="2480291"/>
            <a:ext cx="1146039" cy="1146039"/>
            <a:chOff x="0" y="0"/>
            <a:chExt cx="1528053" cy="1528053"/>
          </a:xfrm>
        </p:grpSpPr>
        <p:sp>
          <p:nvSpPr>
            <p:cNvPr id="20" name="Freeform 3">
              <a:extLst>
                <a:ext uri="{FF2B5EF4-FFF2-40B4-BE49-F238E27FC236}">
                  <a16:creationId xmlns:a16="http://schemas.microsoft.com/office/drawing/2014/main" id="{A71D89E8-AEC1-6291-75B8-4BA510DC5A14}"/>
                </a:ext>
              </a:extLst>
            </p:cNvPr>
            <p:cNvSpPr/>
            <p:nvPr/>
          </p:nvSpPr>
          <p:spPr>
            <a:xfrm>
              <a:off x="0" y="0"/>
              <a:ext cx="1528064" cy="1528064"/>
            </a:xfrm>
            <a:custGeom>
              <a:avLst/>
              <a:gdLst/>
              <a:ahLst/>
              <a:cxnLst/>
              <a:rect l="l" t="t" r="r" b="b"/>
              <a:pathLst>
                <a:path w="1528064" h="1528064">
                  <a:moveTo>
                    <a:pt x="0" y="0"/>
                  </a:moveTo>
                  <a:lnTo>
                    <a:pt x="1528064" y="0"/>
                  </a:lnTo>
                  <a:lnTo>
                    <a:pt x="1528064" y="1528064"/>
                  </a:lnTo>
                  <a:lnTo>
                    <a:pt x="0" y="1528064"/>
                  </a:lnTo>
                  <a:lnTo>
                    <a:pt x="0" y="0"/>
                  </a:lnTo>
                  <a:close/>
                </a:path>
              </a:pathLst>
            </a:custGeom>
            <a:blipFill>
              <a:blip r:embed="rId3"/>
              <a:stretch>
                <a:fillRect/>
              </a:stretch>
            </a:blipFill>
          </p:spPr>
          <p:txBody>
            <a:bodyPr/>
            <a:lstStyle/>
            <a:p>
              <a:endParaRPr lang="fr-FR"/>
            </a:p>
          </p:txBody>
        </p:sp>
      </p:grpSp>
      <p:grpSp>
        <p:nvGrpSpPr>
          <p:cNvPr id="21" name="Group 4">
            <a:extLst>
              <a:ext uri="{FF2B5EF4-FFF2-40B4-BE49-F238E27FC236}">
                <a16:creationId xmlns:a16="http://schemas.microsoft.com/office/drawing/2014/main" id="{C3998CF7-E1A7-58C6-7075-218A28B5927A}"/>
              </a:ext>
            </a:extLst>
          </p:cNvPr>
          <p:cNvGrpSpPr/>
          <p:nvPr/>
        </p:nvGrpSpPr>
        <p:grpSpPr>
          <a:xfrm>
            <a:off x="2233617" y="2480292"/>
            <a:ext cx="6815769" cy="1106799"/>
            <a:chOff x="0" y="0"/>
            <a:chExt cx="9087691" cy="1475732"/>
          </a:xfrm>
        </p:grpSpPr>
        <p:sp>
          <p:nvSpPr>
            <p:cNvPr id="22" name="Freeform 5">
              <a:extLst>
                <a:ext uri="{FF2B5EF4-FFF2-40B4-BE49-F238E27FC236}">
                  <a16:creationId xmlns:a16="http://schemas.microsoft.com/office/drawing/2014/main" id="{E891E4DC-A878-088E-3EF6-3E2D3EE8A9A4}"/>
                </a:ext>
              </a:extLst>
            </p:cNvPr>
            <p:cNvSpPr/>
            <p:nvPr/>
          </p:nvSpPr>
          <p:spPr>
            <a:xfrm>
              <a:off x="0" y="0"/>
              <a:ext cx="9087691" cy="1475732"/>
            </a:xfrm>
            <a:custGeom>
              <a:avLst/>
              <a:gdLst/>
              <a:ahLst/>
              <a:cxnLst/>
              <a:rect l="l" t="t" r="r" b="b"/>
              <a:pathLst>
                <a:path w="9087691" h="1475732">
                  <a:moveTo>
                    <a:pt x="0" y="0"/>
                  </a:moveTo>
                  <a:lnTo>
                    <a:pt x="9087691" y="0"/>
                  </a:lnTo>
                  <a:lnTo>
                    <a:pt x="9087691" y="1475732"/>
                  </a:lnTo>
                  <a:lnTo>
                    <a:pt x="0" y="1475732"/>
                  </a:lnTo>
                  <a:close/>
                </a:path>
              </a:pathLst>
            </a:custGeom>
            <a:solidFill>
              <a:srgbClr val="000000">
                <a:alpha val="0"/>
              </a:srgbClr>
            </a:solidFill>
          </p:spPr>
          <p:txBody>
            <a:bodyPr/>
            <a:lstStyle/>
            <a:p>
              <a:endParaRPr lang="fr-FR"/>
            </a:p>
          </p:txBody>
        </p:sp>
        <p:sp>
          <p:nvSpPr>
            <p:cNvPr id="23" name="TextBox 6">
              <a:extLst>
                <a:ext uri="{FF2B5EF4-FFF2-40B4-BE49-F238E27FC236}">
                  <a16:creationId xmlns:a16="http://schemas.microsoft.com/office/drawing/2014/main" id="{9B19189E-97A5-F2BF-949A-84C12C385D56}"/>
                </a:ext>
              </a:extLst>
            </p:cNvPr>
            <p:cNvSpPr txBox="1"/>
            <p:nvPr/>
          </p:nvSpPr>
          <p:spPr>
            <a:xfrm>
              <a:off x="0" y="-323850"/>
              <a:ext cx="9087691" cy="1799582"/>
            </a:xfrm>
            <a:prstGeom prst="rect">
              <a:avLst/>
            </a:prstGeom>
          </p:spPr>
          <p:txBody>
            <a:bodyPr lIns="0" tIns="0" rIns="0" bIns="0" rtlCol="0" anchor="b"/>
            <a:lstStyle/>
            <a:p>
              <a:pPr algn="ctr">
                <a:lnSpc>
                  <a:spcPts val="9215"/>
                </a:lnSpc>
              </a:pPr>
              <a:r>
                <a:rPr lang="en-US" sz="5119" b="1">
                  <a:solidFill>
                    <a:srgbClr val="2AA7DA"/>
                  </a:solidFill>
                  <a:latin typeface="Arimo Bold"/>
                  <a:ea typeface="Arimo Bold"/>
                  <a:cs typeface="Arimo Bold"/>
                  <a:sym typeface="Arimo Bold"/>
                </a:rPr>
                <a:t>DELIVERABLES</a:t>
              </a:r>
            </a:p>
          </p:txBody>
        </p:sp>
      </p:grpSp>
      <p:grpSp>
        <p:nvGrpSpPr>
          <p:cNvPr id="24" name="Group 7">
            <a:extLst>
              <a:ext uri="{FF2B5EF4-FFF2-40B4-BE49-F238E27FC236}">
                <a16:creationId xmlns:a16="http://schemas.microsoft.com/office/drawing/2014/main" id="{0962B571-ECE7-BD26-43D0-BC7782EDA55D}"/>
              </a:ext>
            </a:extLst>
          </p:cNvPr>
          <p:cNvGrpSpPr>
            <a:grpSpLocks noChangeAspect="1"/>
          </p:cNvGrpSpPr>
          <p:nvPr/>
        </p:nvGrpSpPr>
        <p:grpSpPr>
          <a:xfrm>
            <a:off x="476628" y="441260"/>
            <a:ext cx="2169426" cy="704788"/>
            <a:chOff x="0" y="0"/>
            <a:chExt cx="2892568" cy="939718"/>
          </a:xfrm>
        </p:grpSpPr>
        <p:sp>
          <p:nvSpPr>
            <p:cNvPr id="25" name="Freeform 8">
              <a:extLst>
                <a:ext uri="{FF2B5EF4-FFF2-40B4-BE49-F238E27FC236}">
                  <a16:creationId xmlns:a16="http://schemas.microsoft.com/office/drawing/2014/main" id="{160B2A1B-FDDF-F23E-590E-9BFF407CE12D}"/>
                </a:ext>
              </a:extLst>
            </p:cNvPr>
            <p:cNvSpPr/>
            <p:nvPr/>
          </p:nvSpPr>
          <p:spPr>
            <a:xfrm>
              <a:off x="0" y="0"/>
              <a:ext cx="2892552" cy="939673"/>
            </a:xfrm>
            <a:custGeom>
              <a:avLst/>
              <a:gdLst/>
              <a:ahLst/>
              <a:cxnLst/>
              <a:rect l="l" t="t" r="r" b="b"/>
              <a:pathLst>
                <a:path w="2892552" h="939673">
                  <a:moveTo>
                    <a:pt x="0" y="0"/>
                  </a:moveTo>
                  <a:lnTo>
                    <a:pt x="2892552" y="0"/>
                  </a:lnTo>
                  <a:lnTo>
                    <a:pt x="2892552" y="939673"/>
                  </a:lnTo>
                  <a:lnTo>
                    <a:pt x="0" y="939673"/>
                  </a:lnTo>
                  <a:lnTo>
                    <a:pt x="0" y="0"/>
                  </a:lnTo>
                  <a:close/>
                </a:path>
              </a:pathLst>
            </a:custGeom>
            <a:blipFill>
              <a:blip r:embed="rId4"/>
              <a:stretch>
                <a:fillRect b="-4"/>
              </a:stretch>
            </a:blipFill>
          </p:spPr>
          <p:txBody>
            <a:bodyPr/>
            <a:lstStyle/>
            <a:p>
              <a:endParaRPr lang="fr-FR"/>
            </a:p>
          </p:txBody>
        </p:sp>
      </p:grpSp>
      <p:grpSp>
        <p:nvGrpSpPr>
          <p:cNvPr id="26" name="Group 9">
            <a:extLst>
              <a:ext uri="{FF2B5EF4-FFF2-40B4-BE49-F238E27FC236}">
                <a16:creationId xmlns:a16="http://schemas.microsoft.com/office/drawing/2014/main" id="{7D2B35B6-3FEF-F3DD-9CBE-2E1E50048B1F}"/>
              </a:ext>
            </a:extLst>
          </p:cNvPr>
          <p:cNvGrpSpPr/>
          <p:nvPr/>
        </p:nvGrpSpPr>
        <p:grpSpPr>
          <a:xfrm>
            <a:off x="0" y="4093997"/>
            <a:ext cx="9753600" cy="704788"/>
            <a:chOff x="0" y="0"/>
            <a:chExt cx="13004800" cy="939718"/>
          </a:xfrm>
        </p:grpSpPr>
        <p:sp>
          <p:nvSpPr>
            <p:cNvPr id="27" name="Freeform 10">
              <a:extLst>
                <a:ext uri="{FF2B5EF4-FFF2-40B4-BE49-F238E27FC236}">
                  <a16:creationId xmlns:a16="http://schemas.microsoft.com/office/drawing/2014/main" id="{AA313928-1D16-AB51-C361-C71856368A7A}"/>
                </a:ext>
              </a:extLst>
            </p:cNvPr>
            <p:cNvSpPr/>
            <p:nvPr/>
          </p:nvSpPr>
          <p:spPr>
            <a:xfrm>
              <a:off x="0" y="0"/>
              <a:ext cx="13004800" cy="939718"/>
            </a:xfrm>
            <a:custGeom>
              <a:avLst/>
              <a:gdLst/>
              <a:ahLst/>
              <a:cxnLst/>
              <a:rect l="l" t="t" r="r" b="b"/>
              <a:pathLst>
                <a:path w="13004800" h="939718">
                  <a:moveTo>
                    <a:pt x="0" y="0"/>
                  </a:moveTo>
                  <a:lnTo>
                    <a:pt x="13004800" y="0"/>
                  </a:lnTo>
                  <a:lnTo>
                    <a:pt x="13004800" y="939718"/>
                  </a:lnTo>
                  <a:lnTo>
                    <a:pt x="0" y="939718"/>
                  </a:lnTo>
                  <a:close/>
                </a:path>
              </a:pathLst>
            </a:custGeom>
            <a:solidFill>
              <a:srgbClr val="000000">
                <a:alpha val="0"/>
              </a:srgbClr>
            </a:solidFill>
          </p:spPr>
          <p:txBody>
            <a:bodyPr/>
            <a:lstStyle/>
            <a:p>
              <a:endParaRPr lang="fr-FR"/>
            </a:p>
          </p:txBody>
        </p:sp>
        <p:sp>
          <p:nvSpPr>
            <p:cNvPr id="28" name="TextBox 11">
              <a:extLst>
                <a:ext uri="{FF2B5EF4-FFF2-40B4-BE49-F238E27FC236}">
                  <a16:creationId xmlns:a16="http://schemas.microsoft.com/office/drawing/2014/main" id="{82F70132-ACE7-2AF2-BD45-D9ADC08854BF}"/>
                </a:ext>
              </a:extLst>
            </p:cNvPr>
            <p:cNvSpPr txBox="1"/>
            <p:nvPr/>
          </p:nvSpPr>
          <p:spPr>
            <a:xfrm>
              <a:off x="0" y="-247650"/>
              <a:ext cx="13004800" cy="1187368"/>
            </a:xfrm>
            <a:prstGeom prst="rect">
              <a:avLst/>
            </a:prstGeom>
          </p:spPr>
          <p:txBody>
            <a:bodyPr lIns="0" tIns="0" rIns="0" bIns="0" rtlCol="0" anchor="b"/>
            <a:lstStyle/>
            <a:p>
              <a:pPr algn="ctr">
                <a:lnSpc>
                  <a:spcPts val="6912"/>
                </a:lnSpc>
              </a:pPr>
              <a:r>
                <a:rPr lang="en-US" sz="3840">
                  <a:solidFill>
                    <a:srgbClr val="000000"/>
                  </a:solidFill>
                  <a:latin typeface="Arimo"/>
                  <a:ea typeface="Arimo"/>
                  <a:cs typeface="Arimo"/>
                  <a:sym typeface="Arimo"/>
                </a:rPr>
                <a:t>Team F</a:t>
              </a:r>
            </a:p>
          </p:txBody>
        </p:sp>
      </p:grpSp>
      <p:grpSp>
        <p:nvGrpSpPr>
          <p:cNvPr id="29" name="Group 12">
            <a:extLst>
              <a:ext uri="{FF2B5EF4-FFF2-40B4-BE49-F238E27FC236}">
                <a16:creationId xmlns:a16="http://schemas.microsoft.com/office/drawing/2014/main" id="{5F575346-3A63-6B89-B36B-E59F451E9489}"/>
              </a:ext>
            </a:extLst>
          </p:cNvPr>
          <p:cNvGrpSpPr/>
          <p:nvPr/>
        </p:nvGrpSpPr>
        <p:grpSpPr>
          <a:xfrm>
            <a:off x="-27" y="4986957"/>
            <a:ext cx="9753600" cy="1376000"/>
            <a:chOff x="0" y="0"/>
            <a:chExt cx="13004800" cy="1834667"/>
          </a:xfrm>
        </p:grpSpPr>
        <p:sp>
          <p:nvSpPr>
            <p:cNvPr id="30" name="Freeform 13">
              <a:extLst>
                <a:ext uri="{FF2B5EF4-FFF2-40B4-BE49-F238E27FC236}">
                  <a16:creationId xmlns:a16="http://schemas.microsoft.com/office/drawing/2014/main" id="{D16AE149-13EA-2F98-50CF-3FF3119FC1D0}"/>
                </a:ext>
              </a:extLst>
            </p:cNvPr>
            <p:cNvSpPr/>
            <p:nvPr/>
          </p:nvSpPr>
          <p:spPr>
            <a:xfrm>
              <a:off x="0" y="0"/>
              <a:ext cx="13004800" cy="1834667"/>
            </a:xfrm>
            <a:custGeom>
              <a:avLst/>
              <a:gdLst/>
              <a:ahLst/>
              <a:cxnLst/>
              <a:rect l="l" t="t" r="r" b="b"/>
              <a:pathLst>
                <a:path w="13004800" h="1834667">
                  <a:moveTo>
                    <a:pt x="0" y="0"/>
                  </a:moveTo>
                  <a:lnTo>
                    <a:pt x="13004800" y="0"/>
                  </a:lnTo>
                  <a:lnTo>
                    <a:pt x="13004800" y="1834667"/>
                  </a:lnTo>
                  <a:lnTo>
                    <a:pt x="0" y="1834667"/>
                  </a:lnTo>
                  <a:close/>
                </a:path>
              </a:pathLst>
            </a:custGeom>
            <a:solidFill>
              <a:srgbClr val="000000">
                <a:alpha val="0"/>
              </a:srgbClr>
            </a:solidFill>
          </p:spPr>
          <p:txBody>
            <a:bodyPr/>
            <a:lstStyle/>
            <a:p>
              <a:endParaRPr lang="fr-FR"/>
            </a:p>
          </p:txBody>
        </p:sp>
        <p:sp>
          <p:nvSpPr>
            <p:cNvPr id="31" name="TextBox 14">
              <a:extLst>
                <a:ext uri="{FF2B5EF4-FFF2-40B4-BE49-F238E27FC236}">
                  <a16:creationId xmlns:a16="http://schemas.microsoft.com/office/drawing/2014/main" id="{67CBA269-9920-0F90-3B61-B9FB0148855B}"/>
                </a:ext>
              </a:extLst>
            </p:cNvPr>
            <p:cNvSpPr txBox="1"/>
            <p:nvPr/>
          </p:nvSpPr>
          <p:spPr>
            <a:xfrm>
              <a:off x="0" y="-123825"/>
              <a:ext cx="13004800" cy="1958492"/>
            </a:xfrm>
            <a:prstGeom prst="rect">
              <a:avLst/>
            </a:prstGeom>
          </p:spPr>
          <p:txBody>
            <a:bodyPr lIns="0" tIns="0" rIns="0" bIns="0" rtlCol="0" anchor="ctr"/>
            <a:lstStyle/>
            <a:p>
              <a:pPr algn="ctr">
                <a:lnSpc>
                  <a:spcPts val="3263"/>
                </a:lnSpc>
              </a:pPr>
              <a:r>
                <a:rPr lang="en-US" sz="1813">
                  <a:solidFill>
                    <a:srgbClr val="323F4F"/>
                  </a:solidFill>
                  <a:latin typeface="Arimo"/>
                  <a:ea typeface="Arimo"/>
                  <a:cs typeface="Arimo"/>
                  <a:sym typeface="Arimo"/>
                </a:rPr>
                <a:t>Raphael Gastaldo – Hadi Daccache – Alexandre Johannel – Adrian Rubem</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105" name="Google Shape;105;p2"/>
          <p:cNvPicPr preferRelativeResize="0"/>
          <p:nvPr/>
        </p:nvPicPr>
        <p:blipFill rotWithShape="1">
          <a:blip r:embed="rId3">
            <a:alphaModFix/>
          </a:blip>
          <a:srcRect/>
          <a:stretch/>
        </p:blipFill>
        <p:spPr>
          <a:xfrm>
            <a:off x="8841323" y="6555323"/>
            <a:ext cx="309655" cy="309655"/>
          </a:xfrm>
          <a:prstGeom prst="rect">
            <a:avLst/>
          </a:prstGeom>
          <a:noFill/>
          <a:ln>
            <a:noFill/>
          </a:ln>
        </p:spPr>
      </p:pic>
      <p:sp>
        <p:nvSpPr>
          <p:cNvPr id="6" name="Google Shape;124;p4">
            <a:extLst>
              <a:ext uri="{FF2B5EF4-FFF2-40B4-BE49-F238E27FC236}">
                <a16:creationId xmlns:a16="http://schemas.microsoft.com/office/drawing/2014/main" id="{FAC8E12B-513A-459E-B43D-D4E224DEF0DB}"/>
              </a:ext>
            </a:extLst>
          </p:cNvPr>
          <p:cNvSpPr txBox="1">
            <a:spLocks/>
          </p:cNvSpPr>
          <p:nvPr/>
        </p:nvSpPr>
        <p:spPr>
          <a:xfrm>
            <a:off x="-4676" y="2671283"/>
            <a:ext cx="9148676" cy="101714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30000"/>
              </a:lnSpc>
              <a:buClr>
                <a:srgbClr val="2890BE"/>
              </a:buClr>
              <a:buSzPts val="3200"/>
              <a:buFont typeface="Play"/>
              <a:buNone/>
            </a:pPr>
            <a:r>
              <a:rPr lang="fr-FR" sz="3600" dirty="0">
                <a:solidFill>
                  <a:srgbClr val="2AA7DA"/>
                </a:solidFill>
                <a:latin typeface="SF Compact Display" panose="020B0304030202060204" pitchFamily="34" charset="0"/>
                <a:ea typeface="Play"/>
                <a:cs typeface="Play"/>
                <a:sym typeface="Play"/>
              </a:rPr>
              <a:t>Focus </a:t>
            </a:r>
            <a:r>
              <a:rPr lang="fr-FR" sz="3200" dirty="0">
                <a:solidFill>
                  <a:srgbClr val="2AA7DA"/>
                </a:solidFill>
                <a:latin typeface="SF Compact Display" panose="020B0304030202060204" pitchFamily="34" charset="0"/>
                <a:ea typeface="Play"/>
                <a:cs typeface="Play"/>
                <a:sym typeface="Play"/>
              </a:rPr>
              <a:t>2</a:t>
            </a:r>
            <a:r>
              <a:rPr lang="fr-FR" sz="3600" b="1" dirty="0">
                <a:solidFill>
                  <a:srgbClr val="2AA7DA"/>
                </a:solidFill>
                <a:latin typeface="SF Compact Display" panose="020B0304030202060204" pitchFamily="34" charset="0"/>
                <a:ea typeface="Play"/>
                <a:cs typeface="Play"/>
                <a:sym typeface="Play"/>
              </a:rPr>
              <a:t> </a:t>
            </a:r>
            <a:br>
              <a:rPr lang="fr-FR" sz="3600" b="1" dirty="0">
                <a:solidFill>
                  <a:srgbClr val="2AA7DA"/>
                </a:solidFill>
                <a:latin typeface="SF Compact Display" panose="020B0304030202060204" pitchFamily="34" charset="0"/>
                <a:ea typeface="Play"/>
                <a:cs typeface="Play"/>
                <a:sym typeface="Play"/>
              </a:rPr>
            </a:br>
            <a:r>
              <a:rPr lang="fr-FR" sz="3600" b="1" dirty="0">
                <a:solidFill>
                  <a:srgbClr val="2AA7DA"/>
                </a:solidFill>
                <a:latin typeface="SF Compact Display" panose="020B0304030202060204" pitchFamily="34" charset="0"/>
                <a:ea typeface="Play"/>
                <a:cs typeface="Play"/>
                <a:sym typeface="Play"/>
              </a:rPr>
              <a:t>Issue</a:t>
            </a:r>
            <a:endParaRPr lang="en-US" sz="3600" b="1" dirty="0">
              <a:solidFill>
                <a:srgbClr val="2AA7DA"/>
              </a:solidFill>
              <a:latin typeface="SF Compact Display" panose="020B0304030202060204" pitchFamily="34" charset="0"/>
              <a:ea typeface="Play"/>
              <a:cs typeface="Play"/>
              <a:sym typeface="Play"/>
            </a:endParaRPr>
          </a:p>
        </p:txBody>
      </p:sp>
      <p:sp>
        <p:nvSpPr>
          <p:cNvPr id="7" name="Google Shape;493;p18">
            <a:extLst>
              <a:ext uri="{FF2B5EF4-FFF2-40B4-BE49-F238E27FC236}">
                <a16:creationId xmlns:a16="http://schemas.microsoft.com/office/drawing/2014/main" id="{394D589F-46DA-47E5-A1CD-D4DD90BF44F9}"/>
              </a:ext>
            </a:extLst>
          </p:cNvPr>
          <p:cNvSpPr txBox="1"/>
          <p:nvPr/>
        </p:nvSpPr>
        <p:spPr>
          <a:xfrm>
            <a:off x="0" y="6692869"/>
            <a:ext cx="833718" cy="163896"/>
          </a:xfrm>
          <a:prstGeom prst="rect">
            <a:avLst/>
          </a:prstGeom>
          <a:noFill/>
          <a:ln>
            <a:noFill/>
          </a:ln>
        </p:spPr>
        <p:txBody>
          <a:bodyPr spcFirstLastPara="1" wrap="square" lIns="68569" tIns="34275" rIns="68569" bIns="34275" anchor="b" anchorCtr="0">
            <a:noAutofit/>
          </a:bodyPr>
          <a:lstStyle/>
          <a:p>
            <a:pPr>
              <a:lnSpc>
                <a:spcPct val="130000"/>
              </a:lnSpc>
              <a:buClr>
                <a:schemeClr val="dk1"/>
              </a:buClr>
              <a:buSzPts val="900"/>
            </a:pPr>
            <a:r>
              <a:rPr lang="fr-FR" sz="900" dirty="0">
                <a:solidFill>
                  <a:schemeClr val="dk1"/>
                </a:solidFill>
                <a:latin typeface="SF Compact Display" panose="020B0304030202060204" pitchFamily="34" charset="0"/>
                <a:ea typeface="Play"/>
                <a:cs typeface="Play"/>
                <a:sym typeface="Play"/>
              </a:rPr>
              <a:t>© </a:t>
            </a:r>
            <a:r>
              <a:rPr lang="fr-FR" sz="900" dirty="0" err="1">
                <a:solidFill>
                  <a:schemeClr val="dk1"/>
                </a:solidFill>
                <a:latin typeface="SF Compact Display" panose="020B0304030202060204" pitchFamily="34" charset="0"/>
                <a:ea typeface="Play"/>
                <a:cs typeface="Play"/>
                <a:sym typeface="Play"/>
              </a:rPr>
              <a:t>COmind</a:t>
            </a:r>
            <a:endParaRPr sz="900" dirty="0">
              <a:solidFill>
                <a:schemeClr val="dk1"/>
              </a:solidFill>
              <a:latin typeface="SF Compact Display" panose="020B0304030202060204" pitchFamily="34" charset="0"/>
              <a:ea typeface="Play"/>
              <a:cs typeface="Play"/>
              <a:sym typeface="Play"/>
            </a:endParaRPr>
          </a:p>
        </p:txBody>
      </p:sp>
    </p:spTree>
    <p:extLst>
      <p:ext uri="{BB962C8B-B14F-4D97-AF65-F5344CB8AC3E}">
        <p14:creationId xmlns:p14="http://schemas.microsoft.com/office/powerpoint/2010/main" val="126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5B89AB9-9048-B980-0DAC-B4555E63C28B}"/>
            </a:ext>
          </a:extLst>
        </p:cNvPr>
        <p:cNvGrpSpPr/>
        <p:nvPr/>
      </p:nvGrpSpPr>
      <p:grpSpPr>
        <a:xfrm>
          <a:off x="0" y="0"/>
          <a:ext cx="0" cy="0"/>
          <a:chOff x="0" y="0"/>
          <a:chExt cx="0" cy="0"/>
        </a:xfrm>
      </p:grpSpPr>
      <p:pic>
        <p:nvPicPr>
          <p:cNvPr id="2" name="Google Shape;105;p2">
            <a:extLst>
              <a:ext uri="{FF2B5EF4-FFF2-40B4-BE49-F238E27FC236}">
                <a16:creationId xmlns:a16="http://schemas.microsoft.com/office/drawing/2014/main" id="{548F1913-9D4A-A211-56B1-5E7CDE0D6612}"/>
              </a:ext>
            </a:extLst>
          </p:cNvPr>
          <p:cNvPicPr preferRelativeResize="0"/>
          <p:nvPr/>
        </p:nvPicPr>
        <p:blipFill rotWithShape="1">
          <a:blip r:embed="rId2">
            <a:alphaModFix/>
          </a:blip>
          <a:srcRect/>
          <a:stretch/>
        </p:blipFill>
        <p:spPr>
          <a:xfrm>
            <a:off x="8841323" y="6555323"/>
            <a:ext cx="309655" cy="309655"/>
          </a:xfrm>
          <a:prstGeom prst="rect">
            <a:avLst/>
          </a:prstGeom>
          <a:noFill/>
          <a:ln>
            <a:noFill/>
          </a:ln>
        </p:spPr>
      </p:pic>
      <p:sp>
        <p:nvSpPr>
          <p:cNvPr id="11" name="Google Shape;493;p18">
            <a:extLst>
              <a:ext uri="{FF2B5EF4-FFF2-40B4-BE49-F238E27FC236}">
                <a16:creationId xmlns:a16="http://schemas.microsoft.com/office/drawing/2014/main" id="{C2564422-C32F-04DE-BC33-C20F11E37A43}"/>
              </a:ext>
            </a:extLst>
          </p:cNvPr>
          <p:cNvSpPr txBox="1"/>
          <p:nvPr/>
        </p:nvSpPr>
        <p:spPr>
          <a:xfrm>
            <a:off x="0" y="6692869"/>
            <a:ext cx="833718" cy="163896"/>
          </a:xfrm>
          <a:prstGeom prst="rect">
            <a:avLst/>
          </a:prstGeom>
          <a:noFill/>
          <a:ln>
            <a:noFill/>
          </a:ln>
        </p:spPr>
        <p:txBody>
          <a:bodyPr spcFirstLastPara="1" wrap="square" lIns="68569" tIns="34275" rIns="68569" bIns="34275" anchor="b" anchorCtr="0">
            <a:noAutofit/>
          </a:bodyPr>
          <a:lstStyle/>
          <a:p>
            <a:pPr>
              <a:lnSpc>
                <a:spcPct val="130000"/>
              </a:lnSpc>
              <a:buClr>
                <a:schemeClr val="dk1"/>
              </a:buClr>
              <a:buSzPts val="900"/>
            </a:pPr>
            <a:r>
              <a:rPr lang="fr-FR" sz="900" dirty="0">
                <a:solidFill>
                  <a:schemeClr val="dk1"/>
                </a:solidFill>
                <a:latin typeface="SF Compact Display" panose="020B0304030202060204" pitchFamily="34" charset="0"/>
                <a:ea typeface="Play"/>
                <a:cs typeface="Play"/>
                <a:sym typeface="Play"/>
              </a:rPr>
              <a:t>© </a:t>
            </a:r>
            <a:r>
              <a:rPr lang="fr-FR" sz="900" dirty="0" err="1">
                <a:solidFill>
                  <a:schemeClr val="dk1"/>
                </a:solidFill>
                <a:latin typeface="SF Compact Display" panose="020B0304030202060204" pitchFamily="34" charset="0"/>
                <a:ea typeface="Play"/>
                <a:cs typeface="Play"/>
                <a:sym typeface="Play"/>
              </a:rPr>
              <a:t>COmind</a:t>
            </a:r>
            <a:endParaRPr sz="900" dirty="0">
              <a:solidFill>
                <a:schemeClr val="dk1"/>
              </a:solidFill>
              <a:latin typeface="SF Compact Display" panose="020B0304030202060204" pitchFamily="34" charset="0"/>
              <a:ea typeface="Play"/>
              <a:cs typeface="Play"/>
              <a:sym typeface="Play"/>
            </a:endParaRPr>
          </a:p>
        </p:txBody>
      </p:sp>
      <p:sp>
        <p:nvSpPr>
          <p:cNvPr id="12" name="Google Shape;124;p4">
            <a:extLst>
              <a:ext uri="{FF2B5EF4-FFF2-40B4-BE49-F238E27FC236}">
                <a16:creationId xmlns:a16="http://schemas.microsoft.com/office/drawing/2014/main" id="{BB80614A-0221-2101-6A6E-7E227C39A854}"/>
              </a:ext>
            </a:extLst>
          </p:cNvPr>
          <p:cNvSpPr txBox="1">
            <a:spLocks/>
          </p:cNvSpPr>
          <p:nvPr/>
        </p:nvSpPr>
        <p:spPr>
          <a:xfrm>
            <a:off x="0" y="269999"/>
            <a:ext cx="9148676" cy="908459"/>
          </a:xfrm>
          <a:prstGeom prst="rect">
            <a:avLst/>
          </a:prstGeom>
          <a:solidFill>
            <a:srgbClr val="28447F"/>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00000"/>
              </a:lnSpc>
              <a:buClr>
                <a:srgbClr val="2890BE"/>
              </a:buClr>
              <a:buSzPts val="3200"/>
            </a:pPr>
            <a:r>
              <a:rPr lang="en-US" sz="3200" dirty="0">
                <a:solidFill>
                  <a:schemeClr val="bg1"/>
                </a:solidFill>
              </a:rPr>
              <a:t>Bias Cleaner — Mockup of the Proposed Detection Technology</a:t>
            </a:r>
            <a:endParaRPr lang="fr-FR" sz="3000" dirty="0">
              <a:solidFill>
                <a:schemeClr val="bg1"/>
              </a:solidFill>
              <a:latin typeface="SF Compact Display" panose="020B0304030202060204" pitchFamily="34" charset="0"/>
              <a:ea typeface="Play"/>
              <a:cs typeface="Play"/>
              <a:sym typeface="Play"/>
            </a:endParaRPr>
          </a:p>
        </p:txBody>
      </p:sp>
      <p:grpSp>
        <p:nvGrpSpPr>
          <p:cNvPr id="34" name="Groupe 33">
            <a:extLst>
              <a:ext uri="{FF2B5EF4-FFF2-40B4-BE49-F238E27FC236}">
                <a16:creationId xmlns:a16="http://schemas.microsoft.com/office/drawing/2014/main" id="{BF0F9ECC-D8FB-0EA7-A2BF-D92C48872748}"/>
              </a:ext>
            </a:extLst>
          </p:cNvPr>
          <p:cNvGrpSpPr/>
          <p:nvPr/>
        </p:nvGrpSpPr>
        <p:grpSpPr>
          <a:xfrm>
            <a:off x="401176" y="4919032"/>
            <a:ext cx="8749802" cy="1736133"/>
            <a:chOff x="920539" y="4682753"/>
            <a:chExt cx="7725577" cy="1736133"/>
          </a:xfrm>
        </p:grpSpPr>
        <p:sp>
          <p:nvSpPr>
            <p:cNvPr id="32" name="Google Shape;208;g2901e4286ea_0_1244">
              <a:extLst>
                <a:ext uri="{FF2B5EF4-FFF2-40B4-BE49-F238E27FC236}">
                  <a16:creationId xmlns:a16="http://schemas.microsoft.com/office/drawing/2014/main" id="{825D04DB-3521-6E96-404C-207B8DB6E0A1}"/>
                </a:ext>
              </a:extLst>
            </p:cNvPr>
            <p:cNvSpPr txBox="1"/>
            <p:nvPr/>
          </p:nvSpPr>
          <p:spPr>
            <a:xfrm>
              <a:off x="920539" y="4682753"/>
              <a:ext cx="7725577" cy="1471465"/>
            </a:xfrm>
            <a:prstGeom prst="rect">
              <a:avLst/>
            </a:prstGeom>
            <a:noFill/>
            <a:ln>
              <a:noFill/>
            </a:ln>
          </p:spPr>
          <p:txBody>
            <a:bodyPr spcFirstLastPara="1" wrap="square" lIns="91425" tIns="45700" rIns="91425" bIns="45700" anchor="t" anchorCtr="0">
              <a:noAutofit/>
            </a:bodyPr>
            <a:lstStyle/>
            <a:p>
              <a:pPr lvl="0">
                <a:lnSpc>
                  <a:spcPct val="150000"/>
                </a:lnSpc>
                <a:buSzPts val="2000"/>
              </a:pPr>
              <a:r>
                <a:rPr lang="en-US" sz="2000" dirty="0">
                  <a:solidFill>
                    <a:srgbClr val="28447F"/>
                  </a:solidFill>
                  <a:latin typeface="SF Compact Display" panose="020B0304030202060204" pitchFamily="34" charset="0"/>
                  <a:ea typeface="Play"/>
                  <a:cs typeface="Play"/>
                  <a:sym typeface="Play"/>
                </a:rPr>
                <a:t>Questions asked to early adopters :</a:t>
              </a:r>
              <a:endParaRPr sz="1600" b="0" i="0" u="none" strike="noStrike" cap="none" dirty="0">
                <a:solidFill>
                  <a:srgbClr val="28447F"/>
                </a:solidFill>
                <a:latin typeface="SF Compact Display" panose="020B0304030202060204" pitchFamily="34" charset="0"/>
                <a:ea typeface="Play"/>
                <a:cs typeface="Play"/>
                <a:sym typeface="Play"/>
              </a:endParaRPr>
            </a:p>
          </p:txBody>
        </p:sp>
        <p:sp>
          <p:nvSpPr>
            <p:cNvPr id="33" name="Google Shape;209;g2901e4286ea_0_1244">
              <a:extLst>
                <a:ext uri="{FF2B5EF4-FFF2-40B4-BE49-F238E27FC236}">
                  <a16:creationId xmlns:a16="http://schemas.microsoft.com/office/drawing/2014/main" id="{4529EB91-26E5-A4E3-00AD-2B8B76074AAC}"/>
                </a:ext>
              </a:extLst>
            </p:cNvPr>
            <p:cNvSpPr txBox="1"/>
            <p:nvPr/>
          </p:nvSpPr>
          <p:spPr>
            <a:xfrm>
              <a:off x="1054111" y="5058945"/>
              <a:ext cx="7592005" cy="1359941"/>
            </a:xfrm>
            <a:prstGeom prst="rect">
              <a:avLst/>
            </a:prstGeom>
            <a:noFill/>
            <a:ln>
              <a:noFill/>
            </a:ln>
          </p:spPr>
          <p:txBody>
            <a:bodyPr spcFirstLastPara="1" wrap="square" lIns="91425" tIns="45700" rIns="91425" bIns="45700" anchor="t" anchorCtr="0">
              <a:noAutofit/>
            </a:bodyPr>
            <a:lstStyle/>
            <a:p>
              <a:pPr marL="285750" lvl="0" indent="-273050">
                <a:lnSpc>
                  <a:spcPct val="150000"/>
                </a:lnSpc>
                <a:spcBef>
                  <a:spcPts val="1200"/>
                </a:spcBef>
                <a:buSzPct val="100000"/>
                <a:buChar char="▪"/>
              </a:pPr>
              <a:r>
                <a:rPr lang="en-US" sz="1600" dirty="0"/>
                <a:t>Does this type of analysis interface seem </a:t>
              </a:r>
              <a:r>
                <a:rPr lang="en-US" sz="1600" b="1" dirty="0"/>
                <a:t>useful and easy to understand</a:t>
              </a:r>
              <a:r>
                <a:rPr lang="en-US" sz="1600" dirty="0"/>
                <a:t> for AI or HR teams?</a:t>
              </a:r>
            </a:p>
            <a:p>
              <a:pPr marL="285750" indent="-273050">
                <a:lnSpc>
                  <a:spcPct val="150000"/>
                </a:lnSpc>
                <a:spcBef>
                  <a:spcPts val="1200"/>
                </a:spcBef>
                <a:buSzPct val="100000"/>
                <a:buFont typeface="Arial"/>
                <a:buChar char="▪"/>
              </a:pPr>
              <a:r>
                <a:rPr lang="en-US" sz="1600" dirty="0"/>
                <a:t>Based on the mockup above, </a:t>
              </a:r>
              <a:r>
                <a:rPr lang="en-US" sz="1600" b="1" dirty="0"/>
                <a:t>would these results help you make fairer recruitment decisions?</a:t>
              </a:r>
              <a:endParaRPr lang="en-US" sz="1600" dirty="0"/>
            </a:p>
            <a:p>
              <a:pPr marL="285750" lvl="0" indent="-273050">
                <a:lnSpc>
                  <a:spcPct val="150000"/>
                </a:lnSpc>
                <a:spcBef>
                  <a:spcPts val="1200"/>
                </a:spcBef>
                <a:buSzPct val="100000"/>
                <a:buChar char="▪"/>
              </a:pPr>
              <a:endParaRPr lang="en-US" sz="1600" dirty="0"/>
            </a:p>
          </p:txBody>
        </p:sp>
      </p:grpSp>
      <p:sp>
        <p:nvSpPr>
          <p:cNvPr id="3" name="Google Shape;97;p2">
            <a:extLst>
              <a:ext uri="{FF2B5EF4-FFF2-40B4-BE49-F238E27FC236}">
                <a16:creationId xmlns:a16="http://schemas.microsoft.com/office/drawing/2014/main" id="{C8B6DC62-84E5-F076-B7BE-63C31FA98F37}"/>
              </a:ext>
            </a:extLst>
          </p:cNvPr>
          <p:cNvSpPr txBox="1">
            <a:spLocks/>
          </p:cNvSpPr>
          <p:nvPr/>
        </p:nvSpPr>
        <p:spPr>
          <a:xfrm>
            <a:off x="2376835" y="4619307"/>
            <a:ext cx="6293992" cy="34457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30000"/>
              </a:lnSpc>
              <a:spcAft>
                <a:spcPts val="2400"/>
              </a:spcAft>
              <a:buClr>
                <a:srgbClr val="2890BE"/>
              </a:buClr>
              <a:buSzPts val="3000"/>
            </a:pPr>
            <a:r>
              <a:rPr lang="en-US" sz="1400" dirty="0">
                <a:solidFill>
                  <a:srgbClr val="28447F"/>
                </a:solidFill>
                <a:latin typeface="SF Compact Display" panose="020B0304030202060204" pitchFamily="34" charset="0"/>
              </a:rPr>
              <a:t>Mockup of the Proposed Detection Technology</a:t>
            </a:r>
            <a:endParaRPr lang="fr-FR" sz="1400" dirty="0">
              <a:solidFill>
                <a:srgbClr val="28447F"/>
              </a:solidFill>
              <a:latin typeface="SF Compact Display" panose="020B0304030202060204" pitchFamily="34" charset="0"/>
              <a:ea typeface="Play"/>
              <a:cs typeface="Play"/>
              <a:sym typeface="Play"/>
            </a:endParaRPr>
          </a:p>
        </p:txBody>
      </p:sp>
      <p:sp>
        <p:nvSpPr>
          <p:cNvPr id="21" name="Google Shape;97;p2">
            <a:extLst>
              <a:ext uri="{FF2B5EF4-FFF2-40B4-BE49-F238E27FC236}">
                <a16:creationId xmlns:a16="http://schemas.microsoft.com/office/drawing/2014/main" id="{7B62104E-884B-0188-91BD-207B0E5770CE}"/>
              </a:ext>
            </a:extLst>
          </p:cNvPr>
          <p:cNvSpPr txBox="1">
            <a:spLocks/>
          </p:cNvSpPr>
          <p:nvPr/>
        </p:nvSpPr>
        <p:spPr>
          <a:xfrm>
            <a:off x="8041" y="3354476"/>
            <a:ext cx="2243639" cy="34457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30000"/>
              </a:lnSpc>
              <a:spcAft>
                <a:spcPts val="2400"/>
              </a:spcAft>
              <a:buClr>
                <a:srgbClr val="2890BE"/>
              </a:buClr>
              <a:buSzPts val="3000"/>
            </a:pPr>
            <a:r>
              <a:rPr lang="fr-FR" sz="1400" dirty="0" err="1">
                <a:solidFill>
                  <a:srgbClr val="28447F"/>
                </a:solidFill>
                <a:latin typeface="SF Compact Display" panose="020B0304030202060204" pitchFamily="34" charset="0"/>
              </a:rPr>
              <a:t>Early</a:t>
            </a:r>
            <a:r>
              <a:rPr lang="fr-FR" sz="1400" dirty="0">
                <a:solidFill>
                  <a:srgbClr val="28447F"/>
                </a:solidFill>
                <a:latin typeface="SF Compact Display" panose="020B0304030202060204" pitchFamily="34" charset="0"/>
              </a:rPr>
              <a:t> adopter</a:t>
            </a:r>
            <a:endParaRPr lang="fr-FR" sz="1400" dirty="0">
              <a:solidFill>
                <a:srgbClr val="28447F"/>
              </a:solidFill>
              <a:latin typeface="SF Compact Display" panose="020B0304030202060204" pitchFamily="34" charset="0"/>
              <a:ea typeface="Play"/>
              <a:cs typeface="Play"/>
              <a:sym typeface="Play"/>
            </a:endParaRPr>
          </a:p>
        </p:txBody>
      </p:sp>
      <p:pic>
        <p:nvPicPr>
          <p:cNvPr id="22" name="Image 21">
            <a:extLst>
              <a:ext uri="{FF2B5EF4-FFF2-40B4-BE49-F238E27FC236}">
                <a16:creationId xmlns:a16="http://schemas.microsoft.com/office/drawing/2014/main" id="{EC92F415-F68F-244D-BC93-325E5C3CAF4A}"/>
              </a:ext>
            </a:extLst>
          </p:cNvPr>
          <p:cNvPicPr>
            <a:picLocks noChangeAspect="1"/>
          </p:cNvPicPr>
          <p:nvPr/>
        </p:nvPicPr>
        <p:blipFill>
          <a:blip r:embed="rId3"/>
          <a:stretch>
            <a:fillRect/>
          </a:stretch>
        </p:blipFill>
        <p:spPr>
          <a:xfrm flipH="1">
            <a:off x="699902" y="2375070"/>
            <a:ext cx="874141" cy="887549"/>
          </a:xfrm>
          <a:prstGeom prst="rect">
            <a:avLst/>
          </a:prstGeom>
        </p:spPr>
      </p:pic>
      <p:pic>
        <p:nvPicPr>
          <p:cNvPr id="6" name="Image 5" descr="Une image contenant texte, capture d’écran, Police, diagramme&#10;&#10;Le contenu généré par l’IA peut être incorrect.">
            <a:extLst>
              <a:ext uri="{FF2B5EF4-FFF2-40B4-BE49-F238E27FC236}">
                <a16:creationId xmlns:a16="http://schemas.microsoft.com/office/drawing/2014/main" id="{C13791C0-C848-C33C-4D18-23768E85B0B4}"/>
              </a:ext>
            </a:extLst>
          </p:cNvPr>
          <p:cNvPicPr>
            <a:picLocks noChangeAspect="1"/>
          </p:cNvPicPr>
          <p:nvPr/>
        </p:nvPicPr>
        <p:blipFill>
          <a:blip r:embed="rId4"/>
          <a:stretch>
            <a:fillRect/>
          </a:stretch>
        </p:blipFill>
        <p:spPr>
          <a:xfrm>
            <a:off x="2146450" y="1210192"/>
            <a:ext cx="6754761" cy="3377381"/>
          </a:xfrm>
          <a:prstGeom prst="rect">
            <a:avLst/>
          </a:prstGeom>
        </p:spPr>
      </p:pic>
    </p:spTree>
    <p:extLst>
      <p:ext uri="{BB962C8B-B14F-4D97-AF65-F5344CB8AC3E}">
        <p14:creationId xmlns:p14="http://schemas.microsoft.com/office/powerpoint/2010/main" val="1690064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326"/>
        <p:cNvGrpSpPr/>
        <p:nvPr/>
      </p:nvGrpSpPr>
      <p:grpSpPr>
        <a:xfrm>
          <a:off x="0" y="0"/>
          <a:ext cx="0" cy="0"/>
          <a:chOff x="0" y="0"/>
          <a:chExt cx="0" cy="0"/>
        </a:xfrm>
      </p:grpSpPr>
      <p:pic>
        <p:nvPicPr>
          <p:cNvPr id="331" name="Google Shape;331;g2901e4286ea_0_1209"/>
          <p:cNvPicPr preferRelativeResize="0"/>
          <p:nvPr/>
        </p:nvPicPr>
        <p:blipFill rotWithShape="1">
          <a:blip r:embed="rId3">
            <a:alphaModFix/>
          </a:blip>
          <a:srcRect/>
          <a:stretch/>
        </p:blipFill>
        <p:spPr>
          <a:xfrm>
            <a:off x="8841323" y="6555323"/>
            <a:ext cx="309655" cy="309655"/>
          </a:xfrm>
          <a:prstGeom prst="rect">
            <a:avLst/>
          </a:prstGeom>
          <a:noFill/>
          <a:ln>
            <a:noFill/>
          </a:ln>
        </p:spPr>
      </p:pic>
      <p:sp>
        <p:nvSpPr>
          <p:cNvPr id="332" name="Google Shape;332;g2901e4286ea_0_1209"/>
          <p:cNvSpPr txBox="1">
            <a:spLocks noGrp="1"/>
          </p:cNvSpPr>
          <p:nvPr>
            <p:ph type="ctrTitle"/>
          </p:nvPr>
        </p:nvSpPr>
        <p:spPr>
          <a:xfrm>
            <a:off x="4569662" y="3732121"/>
            <a:ext cx="9148800" cy="5112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rgbClr val="2890BE"/>
              </a:buClr>
              <a:buSzPts val="3200"/>
              <a:buFont typeface="Play"/>
              <a:buNone/>
            </a:pPr>
            <a:r>
              <a:rPr lang="fr-FR" sz="3000" dirty="0">
                <a:solidFill>
                  <a:srgbClr val="2890BE"/>
                </a:solidFill>
                <a:latin typeface="Play"/>
                <a:ea typeface="Play"/>
                <a:cs typeface="Play"/>
                <a:sym typeface="Play"/>
              </a:rPr>
              <a:t> </a:t>
            </a:r>
            <a:endParaRPr sz="3000" dirty="0">
              <a:solidFill>
                <a:srgbClr val="2890BE"/>
              </a:solidFill>
              <a:latin typeface="Play"/>
              <a:ea typeface="Play"/>
              <a:cs typeface="Play"/>
              <a:sym typeface="Play"/>
            </a:endParaRPr>
          </a:p>
        </p:txBody>
      </p:sp>
      <p:sp>
        <p:nvSpPr>
          <p:cNvPr id="334" name="Google Shape;334;g2901e4286ea_0_1209"/>
          <p:cNvSpPr txBox="1"/>
          <p:nvPr/>
        </p:nvSpPr>
        <p:spPr>
          <a:xfrm>
            <a:off x="0" y="6692869"/>
            <a:ext cx="833700" cy="163800"/>
          </a:xfrm>
          <a:prstGeom prst="rect">
            <a:avLst/>
          </a:prstGeom>
          <a:noFill/>
          <a:ln>
            <a:noFill/>
          </a:ln>
        </p:spPr>
        <p:txBody>
          <a:bodyPr spcFirstLastPara="1" wrap="square" lIns="68550" tIns="34275" rIns="68550" bIns="34275" anchor="b" anchorCtr="0">
            <a:noAutofit/>
          </a:bodyPr>
          <a:lstStyle/>
          <a:p>
            <a:pPr marL="0" marR="0" lvl="0" indent="0" algn="l" rtl="0">
              <a:lnSpc>
                <a:spcPct val="130000"/>
              </a:lnSpc>
              <a:spcBef>
                <a:spcPts val="0"/>
              </a:spcBef>
              <a:spcAft>
                <a:spcPts val="0"/>
              </a:spcAft>
              <a:buClr>
                <a:srgbClr val="000000"/>
              </a:buClr>
              <a:buSzPts val="900"/>
              <a:buFont typeface="Arial"/>
              <a:buNone/>
            </a:pPr>
            <a:r>
              <a:rPr lang="fr-FR" sz="900" b="0" i="0" u="none" strike="noStrike" cap="none">
                <a:solidFill>
                  <a:schemeClr val="dk1"/>
                </a:solidFill>
                <a:latin typeface="Play"/>
                <a:ea typeface="Play"/>
                <a:cs typeface="Play"/>
                <a:sym typeface="Play"/>
              </a:rPr>
              <a:t>© COmind</a:t>
            </a:r>
            <a:endParaRPr sz="900" b="0" i="0" u="none" strike="noStrike" cap="none">
              <a:solidFill>
                <a:schemeClr val="dk1"/>
              </a:solidFill>
              <a:latin typeface="Play"/>
              <a:ea typeface="Play"/>
              <a:cs typeface="Play"/>
              <a:sym typeface="Play"/>
            </a:endParaRPr>
          </a:p>
        </p:txBody>
      </p:sp>
      <p:sp>
        <p:nvSpPr>
          <p:cNvPr id="335" name="Google Shape;335;g2901e4286ea_0_1209"/>
          <p:cNvSpPr/>
          <p:nvPr/>
        </p:nvSpPr>
        <p:spPr>
          <a:xfrm>
            <a:off x="1798412" y="1285483"/>
            <a:ext cx="6476400" cy="1297800"/>
          </a:xfrm>
          <a:prstGeom prst="rect">
            <a:avLst/>
          </a:prstGeom>
          <a:noFill/>
          <a:ln>
            <a:noFill/>
          </a:ln>
        </p:spPr>
        <p:txBody>
          <a:bodyPr spcFirstLastPara="1" wrap="square" lIns="67350" tIns="33675" rIns="67350" bIns="33675" anchor="t" anchorCtr="0">
            <a:noAutofit/>
          </a:bodyPr>
          <a:lstStyle/>
          <a:p>
            <a:pPr lvl="0">
              <a:lnSpc>
                <a:spcPct val="130000"/>
              </a:lnSpc>
              <a:buSzPts val="1300"/>
            </a:pPr>
            <a:r>
              <a:rPr lang="fr-FR" sz="1300" dirty="0">
                <a:solidFill>
                  <a:srgbClr val="28447F"/>
                </a:solidFill>
                <a:latin typeface="SF Compact Display" panose="020B0304030202060204" pitchFamily="34" charset="0"/>
                <a:ea typeface="Play"/>
                <a:cs typeface="Play"/>
                <a:sym typeface="Play"/>
              </a:rPr>
              <a:t>First Name</a:t>
            </a:r>
            <a:r>
              <a:rPr lang="fr-FR" sz="1300" b="0" i="0" u="none" strike="noStrike" cap="none" dirty="0">
                <a:solidFill>
                  <a:srgbClr val="28447F"/>
                </a:solidFill>
                <a:latin typeface="SF Compact Display" panose="020B0304030202060204" pitchFamily="34" charset="0"/>
                <a:ea typeface="Play"/>
                <a:cs typeface="Play"/>
                <a:sym typeface="Play"/>
              </a:rPr>
              <a:t> :  </a:t>
            </a:r>
            <a:r>
              <a:rPr lang="fr-FR" sz="1200" dirty="0"/>
              <a:t>Claire</a:t>
            </a:r>
            <a:r>
              <a:rPr lang="fr-FR" sz="1200" b="0" i="0" u="none" strike="noStrike" cap="none" dirty="0">
                <a:solidFill>
                  <a:srgbClr val="000000"/>
                </a:solidFill>
                <a:latin typeface="SF Compact Display" panose="020B0304030202060204" pitchFamily="34" charset="0"/>
                <a:ea typeface="Play"/>
                <a:cs typeface="Play"/>
                <a:sym typeface="Play"/>
              </a:rPr>
              <a:t>       </a:t>
            </a:r>
            <a:r>
              <a:rPr lang="fr-FR" sz="1300" b="0" i="0" u="none" strike="noStrike" cap="none" dirty="0">
                <a:solidFill>
                  <a:srgbClr val="28447F"/>
                </a:solidFill>
                <a:latin typeface="SF Compact Display" panose="020B0304030202060204" pitchFamily="34" charset="0"/>
                <a:ea typeface="Play"/>
                <a:cs typeface="Play"/>
                <a:sym typeface="Play"/>
              </a:rPr>
              <a:t>Name :  </a:t>
            </a:r>
            <a:r>
              <a:rPr lang="fr-FR" sz="1200" dirty="0"/>
              <a:t>Lefèvre</a:t>
            </a:r>
            <a:r>
              <a:rPr lang="fr-FR" sz="1300" b="1" i="0" u="none" strike="noStrike" cap="none" dirty="0">
                <a:solidFill>
                  <a:srgbClr val="000000"/>
                </a:solidFill>
                <a:latin typeface="SF Compact Display" panose="020B0304030202060204" pitchFamily="34" charset="0"/>
                <a:ea typeface="Play"/>
                <a:cs typeface="Play"/>
                <a:sym typeface="Play"/>
              </a:rPr>
              <a:t>       </a:t>
            </a:r>
            <a:endParaRPr sz="1400" b="0" i="0" u="none" strike="noStrike" cap="none" dirty="0">
              <a:solidFill>
                <a:srgbClr val="000000"/>
              </a:solidFill>
              <a:latin typeface="SF Compact Display" panose="020B0304030202060204" pitchFamily="34" charset="0"/>
              <a:sym typeface="Arial"/>
            </a:endParaRPr>
          </a:p>
          <a:p>
            <a:pPr>
              <a:lnSpc>
                <a:spcPct val="130000"/>
              </a:lnSpc>
              <a:buSzPts val="1300"/>
            </a:pPr>
            <a:r>
              <a:rPr lang="fr-FR" sz="1300" dirty="0">
                <a:solidFill>
                  <a:srgbClr val="28447F"/>
                </a:solidFill>
                <a:latin typeface="SF Compact Display" panose="020B0304030202060204" pitchFamily="34" charset="0"/>
                <a:ea typeface="Play"/>
                <a:cs typeface="Play"/>
                <a:sym typeface="Play"/>
              </a:rPr>
              <a:t>Education</a:t>
            </a:r>
            <a:r>
              <a:rPr lang="fr-FR" sz="1300" b="0" i="0" u="none" strike="noStrike" cap="none" dirty="0">
                <a:solidFill>
                  <a:srgbClr val="28447F"/>
                </a:solidFill>
                <a:latin typeface="SF Compact Display" panose="020B0304030202060204" pitchFamily="34" charset="0"/>
                <a:ea typeface="Play"/>
                <a:cs typeface="Play"/>
                <a:sym typeface="Play"/>
              </a:rPr>
              <a:t> : </a:t>
            </a:r>
            <a:r>
              <a:rPr lang="fr-FR" sz="1200" dirty="0" err="1"/>
              <a:t>Master’s</a:t>
            </a:r>
            <a:r>
              <a:rPr lang="fr-FR" sz="1200" dirty="0"/>
              <a:t> </a:t>
            </a:r>
            <a:r>
              <a:rPr lang="fr-FR" sz="1200" dirty="0" err="1"/>
              <a:t>Degree</a:t>
            </a:r>
            <a:r>
              <a:rPr lang="fr-FR" sz="1200" dirty="0"/>
              <a:t> in Human </a:t>
            </a:r>
            <a:r>
              <a:rPr lang="fr-FR" sz="1200" dirty="0" err="1"/>
              <a:t>Resources</a:t>
            </a:r>
            <a:r>
              <a:rPr lang="fr-FR" sz="1200" dirty="0"/>
              <a:t> &amp; Data Analytics — Université Paris Dauphine</a:t>
            </a:r>
          </a:p>
          <a:p>
            <a:pPr>
              <a:lnSpc>
                <a:spcPct val="130000"/>
              </a:lnSpc>
              <a:buSzPts val="1300"/>
            </a:pPr>
            <a:r>
              <a:rPr lang="fr-FR" sz="1300" dirty="0" err="1">
                <a:solidFill>
                  <a:srgbClr val="28447F"/>
                </a:solidFill>
                <a:latin typeface="SF Compact Display" panose="020B0304030202060204" pitchFamily="34" charset="0"/>
                <a:ea typeface="Play"/>
                <a:cs typeface="Play"/>
                <a:sym typeface="Play"/>
              </a:rPr>
              <a:t>Current</a:t>
            </a:r>
            <a:r>
              <a:rPr lang="fr-FR" sz="1300" dirty="0">
                <a:solidFill>
                  <a:srgbClr val="28447F"/>
                </a:solidFill>
                <a:latin typeface="SF Compact Display" panose="020B0304030202060204" pitchFamily="34" charset="0"/>
                <a:ea typeface="Play"/>
                <a:cs typeface="Play"/>
                <a:sym typeface="Play"/>
              </a:rPr>
              <a:t> position</a:t>
            </a:r>
            <a:r>
              <a:rPr lang="fr-FR" sz="1300" b="0" i="0" u="none" strike="noStrike" cap="none" dirty="0">
                <a:solidFill>
                  <a:srgbClr val="28447F"/>
                </a:solidFill>
                <a:latin typeface="SF Compact Display" panose="020B0304030202060204" pitchFamily="34" charset="0"/>
                <a:ea typeface="Play"/>
                <a:cs typeface="Play"/>
                <a:sym typeface="Play"/>
              </a:rPr>
              <a:t> : </a:t>
            </a:r>
            <a:r>
              <a:rPr lang="fr-FR" sz="1200" dirty="0"/>
              <a:t>Paris, France</a:t>
            </a:r>
          </a:p>
          <a:p>
            <a:pPr>
              <a:lnSpc>
                <a:spcPct val="130000"/>
              </a:lnSpc>
              <a:buSzPts val="1300"/>
            </a:pPr>
            <a:r>
              <a:rPr lang="fr-FR" sz="1300" dirty="0" err="1">
                <a:solidFill>
                  <a:srgbClr val="28447F"/>
                </a:solidFill>
                <a:latin typeface="SF Compact Display" panose="020B0304030202060204" pitchFamily="34" charset="0"/>
                <a:ea typeface="Play"/>
                <a:cs typeface="Play"/>
                <a:sym typeface="Play"/>
              </a:rPr>
              <a:t>Organization</a:t>
            </a:r>
            <a:r>
              <a:rPr lang="fr-FR" sz="1300" b="0" i="0" u="none" strike="noStrike" cap="none" dirty="0">
                <a:solidFill>
                  <a:srgbClr val="28447F"/>
                </a:solidFill>
                <a:latin typeface="SF Compact Display" panose="020B0304030202060204" pitchFamily="34" charset="0"/>
                <a:ea typeface="Play"/>
                <a:cs typeface="Play"/>
                <a:sym typeface="Play"/>
              </a:rPr>
              <a:t> :  </a:t>
            </a:r>
            <a:r>
              <a:rPr lang="en-US" dirty="0"/>
              <a:t>Tech &amp; Digital Consulting Company (≈ 800 employees)</a:t>
            </a:r>
            <a:endParaRPr sz="1400" b="0" i="0" u="none" strike="noStrike" cap="none" dirty="0">
              <a:solidFill>
                <a:srgbClr val="000000"/>
              </a:solidFill>
              <a:latin typeface="SF Compact Display" panose="020B0304030202060204" pitchFamily="34" charset="0"/>
              <a:ea typeface="Play"/>
              <a:cs typeface="Play"/>
              <a:sym typeface="Play"/>
            </a:endParaRPr>
          </a:p>
        </p:txBody>
      </p:sp>
      <p:sp>
        <p:nvSpPr>
          <p:cNvPr id="336" name="Google Shape;336;g2901e4286ea_0_1209"/>
          <p:cNvSpPr/>
          <p:nvPr/>
        </p:nvSpPr>
        <p:spPr>
          <a:xfrm>
            <a:off x="503916" y="2761737"/>
            <a:ext cx="8491228" cy="3772500"/>
          </a:xfrm>
          <a:prstGeom prst="rect">
            <a:avLst/>
          </a:prstGeom>
          <a:noFill/>
          <a:ln>
            <a:noFill/>
          </a:ln>
        </p:spPr>
        <p:txBody>
          <a:bodyPr spcFirstLastPara="1" wrap="square" lIns="67350" tIns="33675" rIns="67350" bIns="33675" anchor="t" anchorCtr="0">
            <a:noAutofit/>
          </a:bodyPr>
          <a:lstStyle/>
          <a:p>
            <a:r>
              <a:rPr lang="en-US" sz="1800" dirty="0"/>
              <a:t>Claire has been working in recruitment for over 10 years.</a:t>
            </a:r>
            <a:br>
              <a:rPr lang="en-US" sz="1800" dirty="0"/>
            </a:br>
            <a:r>
              <a:rPr lang="en-US" sz="1800" dirty="0"/>
              <a:t>Her company has recently integrated </a:t>
            </a:r>
            <a:r>
              <a:rPr lang="en-US" sz="1800" b="1" dirty="0"/>
              <a:t>AI-driven tools</a:t>
            </a:r>
            <a:r>
              <a:rPr lang="en-US" sz="1800" dirty="0"/>
              <a:t> to preselect candidates and predict “job fit” scores.</a:t>
            </a:r>
            <a:br>
              <a:rPr lang="en-US" sz="1800" dirty="0"/>
            </a:br>
            <a:r>
              <a:rPr lang="en-US" sz="1800" dirty="0"/>
              <a:t>While these systems have improved efficiency, Claire has noticed </a:t>
            </a:r>
            <a:r>
              <a:rPr lang="en-US" sz="1800" b="1" dirty="0"/>
              <a:t>unexplained discrepancies</a:t>
            </a:r>
            <a:r>
              <a:rPr lang="en-US" sz="1800" dirty="0"/>
              <a:t> in candidate shortlists — some qualified profiles are being filtered out without clear reasons.</a:t>
            </a:r>
          </a:p>
          <a:p>
            <a:endParaRPr lang="en-US" sz="1800" dirty="0"/>
          </a:p>
          <a:p>
            <a:r>
              <a:rPr lang="en-US" sz="1800" dirty="0"/>
              <a:t>She suspects that </a:t>
            </a:r>
            <a:r>
              <a:rPr lang="en-US" sz="1800" b="1" dirty="0"/>
              <a:t>biases in data or algorithms</a:t>
            </a:r>
            <a:r>
              <a:rPr lang="en-US" sz="1800" dirty="0"/>
              <a:t> (gender, age, or school background) could influence AI decisions, but she lacks the technical skills and tools to </a:t>
            </a:r>
            <a:r>
              <a:rPr lang="en-US" sz="1800" b="1" dirty="0"/>
              <a:t>verify or measure</a:t>
            </a:r>
            <a:r>
              <a:rPr lang="en-US" sz="1800" dirty="0"/>
              <a:t> this.</a:t>
            </a:r>
          </a:p>
        </p:txBody>
      </p:sp>
      <p:sp>
        <p:nvSpPr>
          <p:cNvPr id="3" name="Google Shape;124;p4">
            <a:extLst>
              <a:ext uri="{FF2B5EF4-FFF2-40B4-BE49-F238E27FC236}">
                <a16:creationId xmlns:a16="http://schemas.microsoft.com/office/drawing/2014/main" id="{E1A3DAD9-E7E8-F4E4-E131-E17FD5E60F87}"/>
              </a:ext>
            </a:extLst>
          </p:cNvPr>
          <p:cNvSpPr txBox="1">
            <a:spLocks/>
          </p:cNvSpPr>
          <p:nvPr/>
        </p:nvSpPr>
        <p:spPr>
          <a:xfrm>
            <a:off x="0" y="270000"/>
            <a:ext cx="9148676" cy="609972"/>
          </a:xfrm>
          <a:prstGeom prst="rect">
            <a:avLst/>
          </a:prstGeom>
          <a:solidFill>
            <a:srgbClr val="28447F"/>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00000"/>
              </a:lnSpc>
              <a:buClr>
                <a:srgbClr val="2890BE"/>
              </a:buClr>
              <a:buSzPts val="3200"/>
            </a:pPr>
            <a:r>
              <a:rPr lang="fr-FR" sz="3200" dirty="0">
                <a:solidFill>
                  <a:schemeClr val="bg1"/>
                </a:solidFill>
                <a:latin typeface="SF Compact Display" panose="020B0304030202060204" pitchFamily="34" charset="0"/>
                <a:ea typeface="Play"/>
                <a:cs typeface="Play"/>
                <a:sym typeface="Play"/>
              </a:rPr>
              <a:t>CONTACT</a:t>
            </a:r>
            <a:endParaRPr lang="fr-FR" sz="3000" dirty="0">
              <a:solidFill>
                <a:schemeClr val="bg1"/>
              </a:solidFill>
              <a:latin typeface="SF Compact Display" panose="020B0304030202060204" pitchFamily="34" charset="0"/>
              <a:ea typeface="Play"/>
              <a:cs typeface="Play"/>
              <a:sym typeface="Play"/>
            </a:endParaRPr>
          </a:p>
        </p:txBody>
      </p:sp>
      <p:pic>
        <p:nvPicPr>
          <p:cNvPr id="4" name="Image 3">
            <a:extLst>
              <a:ext uri="{FF2B5EF4-FFF2-40B4-BE49-F238E27FC236}">
                <a16:creationId xmlns:a16="http://schemas.microsoft.com/office/drawing/2014/main" id="{CA3B4F08-67BC-35F3-94D9-2EC59DA29B1A}"/>
              </a:ext>
            </a:extLst>
          </p:cNvPr>
          <p:cNvPicPr>
            <a:picLocks noChangeAspect="1"/>
          </p:cNvPicPr>
          <p:nvPr/>
        </p:nvPicPr>
        <p:blipFill>
          <a:blip r:embed="rId4"/>
          <a:stretch>
            <a:fillRect/>
          </a:stretch>
        </p:blipFill>
        <p:spPr>
          <a:xfrm>
            <a:off x="566203" y="1271045"/>
            <a:ext cx="1093104" cy="11496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456">
          <a:extLst>
            <a:ext uri="{FF2B5EF4-FFF2-40B4-BE49-F238E27FC236}">
              <a16:creationId xmlns:a16="http://schemas.microsoft.com/office/drawing/2014/main" id="{9F9BF60E-27C8-B4AE-0E1D-B07FE6921057}"/>
            </a:ext>
          </a:extLst>
        </p:cNvPr>
        <p:cNvGrpSpPr/>
        <p:nvPr/>
      </p:nvGrpSpPr>
      <p:grpSpPr>
        <a:xfrm>
          <a:off x="0" y="0"/>
          <a:ext cx="0" cy="0"/>
          <a:chOff x="0" y="0"/>
          <a:chExt cx="0" cy="0"/>
        </a:xfrm>
      </p:grpSpPr>
      <p:pic>
        <p:nvPicPr>
          <p:cNvPr id="457" name="Google Shape;457;g2901e4286ea_0_1341">
            <a:extLst>
              <a:ext uri="{FF2B5EF4-FFF2-40B4-BE49-F238E27FC236}">
                <a16:creationId xmlns:a16="http://schemas.microsoft.com/office/drawing/2014/main" id="{3465EBE1-433B-C138-D46C-72E88FA671DA}"/>
              </a:ext>
            </a:extLst>
          </p:cNvPr>
          <p:cNvPicPr preferRelativeResize="0"/>
          <p:nvPr/>
        </p:nvPicPr>
        <p:blipFill rotWithShape="1">
          <a:blip r:embed="rId3">
            <a:alphaModFix/>
          </a:blip>
          <a:srcRect/>
          <a:stretch/>
        </p:blipFill>
        <p:spPr>
          <a:xfrm>
            <a:off x="8841323" y="6555323"/>
            <a:ext cx="309655" cy="309655"/>
          </a:xfrm>
          <a:prstGeom prst="rect">
            <a:avLst/>
          </a:prstGeom>
          <a:noFill/>
          <a:ln>
            <a:noFill/>
          </a:ln>
        </p:spPr>
      </p:pic>
      <p:sp>
        <p:nvSpPr>
          <p:cNvPr id="458" name="Google Shape;458;g2901e4286ea_0_1341">
            <a:extLst>
              <a:ext uri="{FF2B5EF4-FFF2-40B4-BE49-F238E27FC236}">
                <a16:creationId xmlns:a16="http://schemas.microsoft.com/office/drawing/2014/main" id="{1981EBF5-7AC5-F81A-55EC-6843877CBA96}"/>
              </a:ext>
            </a:extLst>
          </p:cNvPr>
          <p:cNvSpPr txBox="1"/>
          <p:nvPr/>
        </p:nvSpPr>
        <p:spPr>
          <a:xfrm>
            <a:off x="0" y="6692869"/>
            <a:ext cx="833700" cy="163800"/>
          </a:xfrm>
          <a:prstGeom prst="rect">
            <a:avLst/>
          </a:prstGeom>
          <a:noFill/>
          <a:ln>
            <a:noFill/>
          </a:ln>
        </p:spPr>
        <p:txBody>
          <a:bodyPr spcFirstLastPara="1" wrap="square" lIns="68550" tIns="34275" rIns="68550" bIns="34275" anchor="b" anchorCtr="0">
            <a:noAutofit/>
          </a:bodyPr>
          <a:lstStyle/>
          <a:p>
            <a:pPr marL="0" marR="0" lvl="0" indent="0" algn="l" rtl="0">
              <a:lnSpc>
                <a:spcPct val="130000"/>
              </a:lnSpc>
              <a:spcBef>
                <a:spcPts val="0"/>
              </a:spcBef>
              <a:spcAft>
                <a:spcPts val="0"/>
              </a:spcAft>
              <a:buClr>
                <a:srgbClr val="000000"/>
              </a:buClr>
              <a:buSzPts val="900"/>
              <a:buFont typeface="Arial"/>
              <a:buNone/>
            </a:pPr>
            <a:r>
              <a:rPr lang="fr-FR" sz="900" b="0" i="0" u="none" strike="noStrike" cap="none">
                <a:solidFill>
                  <a:schemeClr val="dk1"/>
                </a:solidFill>
                <a:latin typeface="SF Compact Display" panose="020B0304030202060204" pitchFamily="34" charset="0"/>
                <a:ea typeface="Play"/>
                <a:cs typeface="Play"/>
                <a:sym typeface="Play"/>
              </a:rPr>
              <a:t>© COmind</a:t>
            </a:r>
            <a:endParaRPr sz="900" b="0" i="0" u="none" strike="noStrike" cap="none">
              <a:solidFill>
                <a:schemeClr val="dk1"/>
              </a:solidFill>
              <a:latin typeface="SF Compact Display" panose="020B0304030202060204" pitchFamily="34" charset="0"/>
              <a:ea typeface="Play"/>
              <a:cs typeface="Play"/>
              <a:sym typeface="Play"/>
            </a:endParaRPr>
          </a:p>
        </p:txBody>
      </p:sp>
      <p:sp>
        <p:nvSpPr>
          <p:cNvPr id="460" name="Google Shape;460;g2901e4286ea_0_1341">
            <a:extLst>
              <a:ext uri="{FF2B5EF4-FFF2-40B4-BE49-F238E27FC236}">
                <a16:creationId xmlns:a16="http://schemas.microsoft.com/office/drawing/2014/main" id="{C0BE8AEC-81AB-0863-6D35-74BF33065E0A}"/>
              </a:ext>
            </a:extLst>
          </p:cNvPr>
          <p:cNvSpPr txBox="1"/>
          <p:nvPr/>
        </p:nvSpPr>
        <p:spPr>
          <a:xfrm>
            <a:off x="417323" y="994200"/>
            <a:ext cx="8424000" cy="4869600"/>
          </a:xfrm>
          <a:prstGeom prst="rect">
            <a:avLst/>
          </a:prstGeom>
          <a:noFill/>
          <a:ln>
            <a:noFill/>
          </a:ln>
        </p:spPr>
        <p:txBody>
          <a:bodyPr spcFirstLastPara="1" wrap="square" lIns="91425" tIns="45700" rIns="91425" bIns="45700" anchor="t" anchorCtr="0">
            <a:noAutofit/>
          </a:bodyPr>
          <a:lstStyle/>
          <a:p>
            <a:r>
              <a:rPr lang="en-US" sz="1600" b="1" dirty="0"/>
              <a:t>What ?</a:t>
            </a:r>
            <a:br>
              <a:rPr lang="en-US" sz="1600" dirty="0"/>
            </a:br>
            <a:r>
              <a:rPr lang="en-US" sz="1600" dirty="0"/>
              <a:t>AI recruitment systems often make automated decisions (shortlisting, scoring, ranking) based on biased data or hidden correlations.</a:t>
            </a:r>
          </a:p>
          <a:p>
            <a:r>
              <a:rPr lang="en-US" sz="1600" b="1" dirty="0"/>
              <a:t>Who ?</a:t>
            </a:r>
            <a:br>
              <a:rPr lang="en-US" sz="1600" dirty="0"/>
            </a:br>
            <a:r>
              <a:rPr lang="en-US" sz="1600" dirty="0"/>
              <a:t>HR data managers, recruiters, and data scientists who rely on AI tools to screen candidates.</a:t>
            </a:r>
          </a:p>
          <a:p>
            <a:r>
              <a:rPr lang="en-US" sz="1600" b="1" dirty="0"/>
              <a:t>Where ?</a:t>
            </a:r>
            <a:br>
              <a:rPr lang="en-US" sz="1600" dirty="0"/>
            </a:br>
            <a:r>
              <a:rPr lang="en-US" sz="1600" dirty="0"/>
              <a:t>In medium and large organizations using data-driven recruitment platforms or predictive hiring models.</a:t>
            </a:r>
          </a:p>
          <a:p>
            <a:r>
              <a:rPr lang="en-US" sz="1600" b="1" dirty="0"/>
              <a:t>When ?</a:t>
            </a:r>
            <a:br>
              <a:rPr lang="en-US" sz="1600" dirty="0"/>
            </a:br>
            <a:r>
              <a:rPr lang="en-US" sz="1600" dirty="0"/>
              <a:t>During the candidate preselection and evaluation phases, especially when algorithms are used to analyze CVs or interview data.</a:t>
            </a:r>
          </a:p>
          <a:p>
            <a:r>
              <a:rPr lang="en-US" sz="1600" b="1" dirty="0"/>
              <a:t>How ?</a:t>
            </a:r>
            <a:br>
              <a:rPr lang="en-US" sz="1600" dirty="0"/>
            </a:br>
            <a:r>
              <a:rPr lang="en-US" sz="1600" dirty="0"/>
              <a:t>Because the AI model reproduces patterns from historical data, it may unconsciously favor certain profiles (e.g., gender, age, education background).</a:t>
            </a:r>
            <a:br>
              <a:rPr lang="en-US" sz="1600" dirty="0"/>
            </a:br>
            <a:r>
              <a:rPr lang="en-US" sz="1600" dirty="0"/>
              <a:t>Users currently </a:t>
            </a:r>
            <a:r>
              <a:rPr lang="en-US" sz="1600" b="1" dirty="0"/>
              <a:t>lack visibility</a:t>
            </a:r>
            <a:r>
              <a:rPr lang="en-US" sz="1600" dirty="0"/>
              <a:t> into how these biases appear or affect fairness metrics.</a:t>
            </a:r>
          </a:p>
          <a:p>
            <a:r>
              <a:rPr lang="en-US" sz="1600" b="1" dirty="0"/>
              <a:t>Why ?</a:t>
            </a:r>
            <a:br>
              <a:rPr lang="en-US" sz="1600" dirty="0"/>
            </a:br>
            <a:r>
              <a:rPr lang="en-US" sz="1600" dirty="0"/>
              <a:t>To ensure </a:t>
            </a:r>
            <a:r>
              <a:rPr lang="en-US" sz="1600" b="1" dirty="0"/>
              <a:t>fair, transparent, and explainable recruitment decisions</a:t>
            </a:r>
            <a:r>
              <a:rPr lang="en-US" sz="1600" dirty="0"/>
              <a:t>, compliant with ethical standards and diversity goals.</a:t>
            </a:r>
          </a:p>
          <a:p>
            <a:r>
              <a:rPr lang="en-US" sz="1600" b="1" dirty="0"/>
              <a:t>The Issue :</a:t>
            </a:r>
            <a:br>
              <a:rPr lang="en-US" sz="1600" dirty="0"/>
            </a:br>
            <a:r>
              <a:rPr lang="en-US" sz="1600" dirty="0"/>
              <a:t>How can we </a:t>
            </a:r>
            <a:r>
              <a:rPr lang="en-US" sz="1600" b="1" dirty="0"/>
              <a:t>detect, measure, and visualize algorithmic bias</a:t>
            </a:r>
            <a:r>
              <a:rPr lang="en-US" sz="1600" dirty="0"/>
              <a:t> within recruitment AI systems, so that HR and data teams can </a:t>
            </a:r>
            <a:r>
              <a:rPr lang="en-US" sz="1600" b="1" dirty="0"/>
              <a:t>identify unfair outcomes</a:t>
            </a:r>
            <a:r>
              <a:rPr lang="en-US" sz="1600" dirty="0"/>
              <a:t> and </a:t>
            </a:r>
            <a:r>
              <a:rPr lang="en-US" sz="1600" b="1" dirty="0"/>
              <a:t>improve decision transparency</a:t>
            </a:r>
            <a:r>
              <a:rPr lang="en-US" sz="1600" dirty="0"/>
              <a:t>?</a:t>
            </a:r>
          </a:p>
          <a:p>
            <a:pPr lvl="0">
              <a:lnSpc>
                <a:spcPct val="130000"/>
              </a:lnSpc>
              <a:buClr>
                <a:srgbClr val="2AA7DA"/>
              </a:buClr>
              <a:buSzPts val="3000"/>
            </a:pPr>
            <a:endParaRPr sz="1600" b="0" i="0" u="none" strike="noStrike" cap="none" dirty="0">
              <a:solidFill>
                <a:srgbClr val="28447F"/>
              </a:solidFill>
              <a:latin typeface="SF Compact Display" panose="020B0304030202060204" pitchFamily="34" charset="0"/>
              <a:ea typeface="Play"/>
              <a:cs typeface="Play"/>
              <a:sym typeface="Play"/>
            </a:endParaRPr>
          </a:p>
        </p:txBody>
      </p:sp>
      <p:sp>
        <p:nvSpPr>
          <p:cNvPr id="3" name="Google Shape;422;g2901e4286ea_0_1289">
            <a:extLst>
              <a:ext uri="{FF2B5EF4-FFF2-40B4-BE49-F238E27FC236}">
                <a16:creationId xmlns:a16="http://schemas.microsoft.com/office/drawing/2014/main" id="{3EE8CA2F-777B-37B7-72B0-AAF76E6C8C52}"/>
              </a:ext>
            </a:extLst>
          </p:cNvPr>
          <p:cNvSpPr txBox="1"/>
          <p:nvPr/>
        </p:nvSpPr>
        <p:spPr>
          <a:xfrm>
            <a:off x="0" y="270000"/>
            <a:ext cx="9148800" cy="609900"/>
          </a:xfrm>
          <a:prstGeom prst="rect">
            <a:avLst/>
          </a:prstGeom>
          <a:solidFill>
            <a:srgbClr val="28447F"/>
          </a:solidFill>
          <a:ln>
            <a:noFill/>
          </a:ln>
        </p:spPr>
        <p:txBody>
          <a:bodyPr spcFirstLastPara="1" wrap="square" lIns="91425" tIns="45700" rIns="91425" bIns="45700" anchor="ctr" anchorCtr="0">
            <a:noAutofit/>
          </a:bodyPr>
          <a:lstStyle/>
          <a:p>
            <a:pPr lvl="0" algn="ctr">
              <a:lnSpc>
                <a:spcPct val="90000"/>
              </a:lnSpc>
              <a:buClr>
                <a:srgbClr val="2890BE"/>
              </a:buClr>
              <a:buSzPts val="3200"/>
            </a:pPr>
            <a:r>
              <a:rPr lang="fr-FR" sz="3200" dirty="0">
                <a:solidFill>
                  <a:schemeClr val="lt1"/>
                </a:solidFill>
                <a:latin typeface="SF Compact Display" panose="020B0304030202060204" pitchFamily="34" charset="0"/>
                <a:ea typeface="Play"/>
                <a:cs typeface="Play"/>
                <a:sym typeface="Play"/>
              </a:rPr>
              <a:t>BiasCleaner user </a:t>
            </a:r>
            <a:r>
              <a:rPr lang="fr-FR" sz="3200" dirty="0" err="1">
                <a:solidFill>
                  <a:schemeClr val="lt1"/>
                </a:solidFill>
                <a:latin typeface="SF Compact Display" panose="020B0304030202060204" pitchFamily="34" charset="0"/>
                <a:ea typeface="Play"/>
                <a:cs typeface="Play"/>
                <a:sym typeface="Play"/>
              </a:rPr>
              <a:t>problem</a:t>
            </a:r>
            <a:endParaRPr sz="3000" b="0" i="0" u="none" strike="noStrike" cap="none" dirty="0">
              <a:solidFill>
                <a:schemeClr val="lt1"/>
              </a:solidFill>
              <a:latin typeface="SF Compact Display" panose="020B0304030202060204" pitchFamily="34" charset="0"/>
              <a:ea typeface="Play"/>
              <a:cs typeface="Play"/>
              <a:sym typeface="Play"/>
            </a:endParaRPr>
          </a:p>
        </p:txBody>
      </p:sp>
    </p:spTree>
    <p:extLst>
      <p:ext uri="{BB962C8B-B14F-4D97-AF65-F5344CB8AC3E}">
        <p14:creationId xmlns:p14="http://schemas.microsoft.com/office/powerpoint/2010/main" val="2835852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456"/>
        <p:cNvGrpSpPr/>
        <p:nvPr/>
      </p:nvGrpSpPr>
      <p:grpSpPr>
        <a:xfrm>
          <a:off x="0" y="0"/>
          <a:ext cx="0" cy="0"/>
          <a:chOff x="0" y="0"/>
          <a:chExt cx="0" cy="0"/>
        </a:xfrm>
      </p:grpSpPr>
      <p:pic>
        <p:nvPicPr>
          <p:cNvPr id="457" name="Google Shape;457;g2901e4286ea_0_1341"/>
          <p:cNvPicPr preferRelativeResize="0"/>
          <p:nvPr/>
        </p:nvPicPr>
        <p:blipFill rotWithShape="1">
          <a:blip r:embed="rId3">
            <a:alphaModFix/>
          </a:blip>
          <a:srcRect/>
          <a:stretch/>
        </p:blipFill>
        <p:spPr>
          <a:xfrm>
            <a:off x="8841323" y="6555323"/>
            <a:ext cx="309655" cy="309655"/>
          </a:xfrm>
          <a:prstGeom prst="rect">
            <a:avLst/>
          </a:prstGeom>
          <a:noFill/>
          <a:ln>
            <a:noFill/>
          </a:ln>
        </p:spPr>
      </p:pic>
      <p:sp>
        <p:nvSpPr>
          <p:cNvPr id="458" name="Google Shape;458;g2901e4286ea_0_1341"/>
          <p:cNvSpPr txBox="1"/>
          <p:nvPr/>
        </p:nvSpPr>
        <p:spPr>
          <a:xfrm>
            <a:off x="0" y="6692869"/>
            <a:ext cx="833700" cy="163800"/>
          </a:xfrm>
          <a:prstGeom prst="rect">
            <a:avLst/>
          </a:prstGeom>
          <a:noFill/>
          <a:ln>
            <a:noFill/>
          </a:ln>
        </p:spPr>
        <p:txBody>
          <a:bodyPr spcFirstLastPara="1" wrap="square" lIns="68550" tIns="34275" rIns="68550" bIns="34275" anchor="b" anchorCtr="0">
            <a:noAutofit/>
          </a:bodyPr>
          <a:lstStyle/>
          <a:p>
            <a:pPr marL="0" marR="0" lvl="0" indent="0" algn="l" rtl="0">
              <a:lnSpc>
                <a:spcPct val="130000"/>
              </a:lnSpc>
              <a:spcBef>
                <a:spcPts val="0"/>
              </a:spcBef>
              <a:spcAft>
                <a:spcPts val="0"/>
              </a:spcAft>
              <a:buClr>
                <a:srgbClr val="000000"/>
              </a:buClr>
              <a:buSzPts val="900"/>
              <a:buFont typeface="Arial"/>
              <a:buNone/>
            </a:pPr>
            <a:r>
              <a:rPr lang="fr-FR" sz="900" b="0" i="0" u="none" strike="noStrike" cap="none">
                <a:solidFill>
                  <a:schemeClr val="dk1"/>
                </a:solidFill>
                <a:latin typeface="SF Compact Display" panose="020B0304030202060204" pitchFamily="34" charset="0"/>
                <a:ea typeface="Play"/>
                <a:cs typeface="Play"/>
                <a:sym typeface="Play"/>
              </a:rPr>
              <a:t>© COmind</a:t>
            </a:r>
            <a:endParaRPr sz="900" b="0" i="0" u="none" strike="noStrike" cap="none">
              <a:solidFill>
                <a:schemeClr val="dk1"/>
              </a:solidFill>
              <a:latin typeface="SF Compact Display" panose="020B0304030202060204" pitchFamily="34" charset="0"/>
              <a:ea typeface="Play"/>
              <a:cs typeface="Play"/>
              <a:sym typeface="Play"/>
            </a:endParaRPr>
          </a:p>
        </p:txBody>
      </p:sp>
      <p:sp>
        <p:nvSpPr>
          <p:cNvPr id="3" name="Google Shape;422;g2901e4286ea_0_1289">
            <a:extLst>
              <a:ext uri="{FF2B5EF4-FFF2-40B4-BE49-F238E27FC236}">
                <a16:creationId xmlns:a16="http://schemas.microsoft.com/office/drawing/2014/main" id="{CF956F68-6FAE-D8E1-7BFC-46AAAFC5E472}"/>
              </a:ext>
            </a:extLst>
          </p:cNvPr>
          <p:cNvSpPr txBox="1"/>
          <p:nvPr/>
        </p:nvSpPr>
        <p:spPr>
          <a:xfrm>
            <a:off x="0" y="270000"/>
            <a:ext cx="9148800" cy="609900"/>
          </a:xfrm>
          <a:prstGeom prst="rect">
            <a:avLst/>
          </a:prstGeom>
          <a:solidFill>
            <a:srgbClr val="28447F"/>
          </a:solidFill>
          <a:ln>
            <a:noFill/>
          </a:ln>
        </p:spPr>
        <p:txBody>
          <a:bodyPr spcFirstLastPara="1" wrap="square" lIns="91425" tIns="45700" rIns="91425" bIns="45700" anchor="ctr" anchorCtr="0">
            <a:noAutofit/>
          </a:bodyPr>
          <a:lstStyle/>
          <a:p>
            <a:pPr lvl="0" algn="ctr">
              <a:lnSpc>
                <a:spcPct val="90000"/>
              </a:lnSpc>
              <a:buClr>
                <a:srgbClr val="2890BE"/>
              </a:buClr>
              <a:buSzPts val="3200"/>
            </a:pPr>
            <a:r>
              <a:rPr lang="fr-FR" sz="3200" dirty="0">
                <a:solidFill>
                  <a:schemeClr val="lt1"/>
                </a:solidFill>
                <a:latin typeface="SF Compact Display" panose="020B0304030202060204" pitchFamily="34" charset="0"/>
                <a:ea typeface="Play"/>
                <a:cs typeface="Play"/>
                <a:sym typeface="Play"/>
              </a:rPr>
              <a:t>BiasCleaner user </a:t>
            </a:r>
            <a:r>
              <a:rPr lang="fr-FR" sz="3200" dirty="0" err="1">
                <a:solidFill>
                  <a:schemeClr val="lt1"/>
                </a:solidFill>
                <a:latin typeface="SF Compact Display" panose="020B0304030202060204" pitchFamily="34" charset="0"/>
                <a:ea typeface="Play"/>
                <a:cs typeface="Play"/>
                <a:sym typeface="Play"/>
              </a:rPr>
              <a:t>problem</a:t>
            </a:r>
            <a:endParaRPr sz="3000" b="0" i="0" u="none" strike="noStrike" cap="none" dirty="0">
              <a:solidFill>
                <a:schemeClr val="lt1"/>
              </a:solidFill>
              <a:latin typeface="SF Compact Display" panose="020B0304030202060204" pitchFamily="34" charset="0"/>
              <a:ea typeface="Play"/>
              <a:cs typeface="Play"/>
              <a:sym typeface="Play"/>
            </a:endParaRPr>
          </a:p>
        </p:txBody>
      </p:sp>
      <p:pic>
        <p:nvPicPr>
          <p:cNvPr id="4" name="Image 3">
            <a:extLst>
              <a:ext uri="{FF2B5EF4-FFF2-40B4-BE49-F238E27FC236}">
                <a16:creationId xmlns:a16="http://schemas.microsoft.com/office/drawing/2014/main" id="{6B1D8FC4-5718-B852-C5A9-B88F7A5E98A5}"/>
              </a:ext>
            </a:extLst>
          </p:cNvPr>
          <p:cNvPicPr>
            <a:picLocks noChangeAspect="1"/>
          </p:cNvPicPr>
          <p:nvPr/>
        </p:nvPicPr>
        <p:blipFill>
          <a:blip r:embed="rId4"/>
          <a:stretch>
            <a:fillRect/>
          </a:stretch>
        </p:blipFill>
        <p:spPr>
          <a:xfrm>
            <a:off x="243759" y="1274207"/>
            <a:ext cx="8656481" cy="3349826"/>
          </a:xfrm>
          <a:prstGeom prst="rect">
            <a:avLst/>
          </a:prstGeom>
        </p:spPr>
      </p:pic>
      <p:sp>
        <p:nvSpPr>
          <p:cNvPr id="5" name="ZoneTexte 4">
            <a:extLst>
              <a:ext uri="{FF2B5EF4-FFF2-40B4-BE49-F238E27FC236}">
                <a16:creationId xmlns:a16="http://schemas.microsoft.com/office/drawing/2014/main" id="{0AEDDBA4-EEFA-4B34-EDC7-C71607F424F5}"/>
              </a:ext>
            </a:extLst>
          </p:cNvPr>
          <p:cNvSpPr txBox="1"/>
          <p:nvPr/>
        </p:nvSpPr>
        <p:spPr>
          <a:xfrm>
            <a:off x="243759" y="4873621"/>
            <a:ext cx="8193024" cy="1569660"/>
          </a:xfrm>
          <a:prstGeom prst="rect">
            <a:avLst/>
          </a:prstGeom>
          <a:noFill/>
        </p:spPr>
        <p:txBody>
          <a:bodyPr wrap="square" rtlCol="0">
            <a:spAutoFit/>
          </a:bodyPr>
          <a:lstStyle/>
          <a:p>
            <a:r>
              <a:rPr lang="en-US" sz="1600" dirty="0"/>
              <a:t>- Recruitment processes increasingly rely on AI tools — yet these systems often reproduce human bias. BiasCleaner targets the key stakeholders most exposed to this risk.</a:t>
            </a:r>
          </a:p>
          <a:p>
            <a:endParaRPr lang="en-US" sz="1600" dirty="0"/>
          </a:p>
          <a:p>
            <a:r>
              <a:rPr lang="en-US" sz="1600" dirty="0"/>
              <a:t>- These personas represent the first users to test and validate </a:t>
            </a:r>
            <a:r>
              <a:rPr lang="en-US" sz="1600" dirty="0" err="1"/>
              <a:t>BiasCleaner’s</a:t>
            </a:r>
            <a:r>
              <a:rPr lang="en-US" sz="1600" dirty="0"/>
              <a:t> impact on fairness and transparency.</a:t>
            </a:r>
            <a:endParaRPr lang="fr-FR"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9" name="Google Shape;489;p18"/>
          <p:cNvSpPr txBox="1"/>
          <p:nvPr/>
        </p:nvSpPr>
        <p:spPr>
          <a:xfrm>
            <a:off x="1903503" y="3550773"/>
            <a:ext cx="2315203" cy="1507438"/>
          </a:xfrm>
          <a:prstGeom prst="rect">
            <a:avLst/>
          </a:prstGeom>
          <a:noFill/>
          <a:ln>
            <a:noFill/>
          </a:ln>
        </p:spPr>
        <p:txBody>
          <a:bodyPr spcFirstLastPara="1" wrap="square" lIns="74250" tIns="40500" rIns="74250" bIns="40500" anchor="t" anchorCtr="1">
            <a:spAutoFit/>
          </a:bodyPr>
          <a:lstStyle/>
          <a:p>
            <a:pPr marL="0" marR="0" lvl="0" indent="0" algn="ctr" defTabSz="914400" rtl="0" eaLnBrk="1" fontAlgn="auto" latinLnBrk="0" hangingPunct="1">
              <a:lnSpc>
                <a:spcPct val="87307"/>
              </a:lnSpc>
              <a:spcBef>
                <a:spcPts val="0"/>
              </a:spcBef>
              <a:spcAft>
                <a:spcPts val="0"/>
              </a:spcAft>
              <a:buClr>
                <a:srgbClr val="000000"/>
              </a:buClr>
              <a:buSzPts val="2600"/>
              <a:buFont typeface="Arial"/>
              <a:buNone/>
              <a:tabLst/>
              <a:defRPr/>
            </a:pPr>
            <a:endParaRPr kumimoji="0" sz="1950" i="0" u="none" strike="noStrike" kern="0" cap="none" spc="0" normalizeH="0" baseline="0" noProof="0" dirty="0">
              <a:ln>
                <a:noFill/>
              </a:ln>
              <a:solidFill>
                <a:srgbClr val="000000"/>
              </a:solidFill>
              <a:effectLst/>
              <a:uLnTx/>
              <a:uFillTx/>
              <a:latin typeface="SF Compact Display" panose="020B0304030202060204" pitchFamily="34" charset="0"/>
              <a:ea typeface="Play"/>
              <a:cs typeface="Play"/>
              <a:sym typeface="Play"/>
            </a:endParaRPr>
          </a:p>
          <a:p>
            <a:pPr marL="0" marR="0" lvl="0" indent="0" algn="ctr" defTabSz="914400" rtl="0" eaLnBrk="1" fontAlgn="auto" latinLnBrk="0" hangingPunct="1">
              <a:lnSpc>
                <a:spcPct val="100000"/>
              </a:lnSpc>
              <a:spcBef>
                <a:spcPts val="214"/>
              </a:spcBef>
              <a:spcAft>
                <a:spcPts val="0"/>
              </a:spcAft>
              <a:buClr>
                <a:srgbClr val="21A7E0"/>
              </a:buClr>
              <a:buSzPts val="1600"/>
              <a:buFont typeface="Arial"/>
              <a:buNone/>
              <a:tabLst/>
              <a:defRPr/>
            </a:pPr>
            <a:r>
              <a:rPr kumimoji="0" lang="fr-FR" sz="1200" i="0" u="none" strike="noStrike" kern="0" cap="none" spc="0" normalizeH="0" baseline="0" noProof="0" dirty="0">
                <a:ln>
                  <a:noFill/>
                </a:ln>
                <a:solidFill>
                  <a:srgbClr val="2AA7DA"/>
                </a:solidFill>
                <a:effectLst/>
                <a:uLnTx/>
                <a:uFillTx/>
                <a:latin typeface="SF Compact Display" panose="020B0304030202060204" pitchFamily="34" charset="0"/>
                <a:ea typeface="Play"/>
                <a:cs typeface="Play"/>
                <a:sym typeface="Play"/>
              </a:rPr>
              <a:t>Erik EMOTTE</a:t>
            </a:r>
            <a:endParaRPr kumimoji="0" sz="1050" i="0" u="none" strike="noStrike" kern="0" cap="none" spc="0" normalizeH="0" baseline="0" noProof="0" dirty="0">
              <a:ln>
                <a:noFill/>
              </a:ln>
              <a:solidFill>
                <a:srgbClr val="2AA7DA"/>
              </a:solidFill>
              <a:effectLst/>
              <a:uLnTx/>
              <a:uFillTx/>
              <a:latin typeface="SF Compact Display" panose="020B0304030202060204" pitchFamily="34" charset="0"/>
              <a:cs typeface="Arial"/>
              <a:sym typeface="Arial"/>
            </a:endParaRPr>
          </a:p>
          <a:p>
            <a:pPr marL="0" marR="0" lvl="0" indent="0" algn="ctr" defTabSz="914400" rtl="0" eaLnBrk="1" fontAlgn="auto" latinLnBrk="0" hangingPunct="1">
              <a:lnSpc>
                <a:spcPct val="150000"/>
              </a:lnSpc>
              <a:spcBef>
                <a:spcPts val="600"/>
              </a:spcBef>
              <a:spcAft>
                <a:spcPts val="0"/>
              </a:spcAft>
              <a:buClr>
                <a:srgbClr val="000000"/>
              </a:buClr>
              <a:buSzPts val="1600"/>
              <a:buFont typeface="Arial"/>
              <a:buNone/>
              <a:tabLst/>
              <a:defRPr/>
            </a:pPr>
            <a:r>
              <a:rPr kumimoji="0" lang="fr-FR" sz="1200" i="0" u="none" strike="noStrike" kern="0" cap="none" spc="0" normalizeH="0" baseline="0" noProof="0" dirty="0">
                <a:ln>
                  <a:noFill/>
                </a:ln>
                <a:solidFill>
                  <a:srgbClr val="000000"/>
                </a:solidFill>
                <a:effectLst/>
                <a:uLnTx/>
                <a:uFillTx/>
                <a:latin typeface="SF Compact Display" panose="020B0304030202060204" pitchFamily="34" charset="0"/>
                <a:ea typeface="Play"/>
                <a:cs typeface="Play"/>
                <a:sym typeface="Play"/>
              </a:rPr>
              <a:t>06 38 11 85 81</a:t>
            </a:r>
            <a:endParaRPr kumimoji="0" sz="1050" i="0" u="none" strike="noStrike" kern="0" cap="none" spc="0" normalizeH="0" baseline="0" noProof="0" dirty="0">
              <a:ln>
                <a:noFill/>
              </a:ln>
              <a:solidFill>
                <a:srgbClr val="000000"/>
              </a:solidFill>
              <a:effectLst/>
              <a:uLnTx/>
              <a:uFillTx/>
              <a:latin typeface="SF Compact Display" panose="020B0304030202060204" pitchFamily="34" charset="0"/>
              <a:cs typeface="Arial"/>
              <a:sym typeface="Arial"/>
            </a:endParaRPr>
          </a:p>
          <a:p>
            <a:pPr marL="0" marR="0" lvl="0" indent="0" algn="ctr" defTabSz="914400" rtl="0" eaLnBrk="1" fontAlgn="auto" latinLnBrk="0" hangingPunct="1">
              <a:lnSpc>
                <a:spcPct val="100000"/>
              </a:lnSpc>
              <a:spcBef>
                <a:spcPts val="600"/>
              </a:spcBef>
              <a:spcAft>
                <a:spcPts val="0"/>
              </a:spcAft>
              <a:buClr>
                <a:srgbClr val="21A7E0"/>
              </a:buClr>
              <a:buSzPts val="1600"/>
              <a:buFont typeface="Arial"/>
              <a:buNone/>
              <a:tabLst/>
              <a:defRPr/>
            </a:pPr>
            <a:r>
              <a:rPr kumimoji="0" lang="fr-FR" sz="1200" i="0" u="sng" strike="noStrike" kern="0" cap="none" spc="0" normalizeH="0" baseline="0" noProof="0" dirty="0">
                <a:ln>
                  <a:noFill/>
                </a:ln>
                <a:solidFill>
                  <a:srgbClr val="21A7E0"/>
                </a:solidFill>
                <a:effectLst/>
                <a:uLnTx/>
                <a:uFillTx/>
                <a:latin typeface="SF Compact Display" panose="020B0304030202060204" pitchFamily="34" charset="0"/>
                <a:ea typeface="Play"/>
                <a:cs typeface="Play"/>
                <a:sym typeface="Play"/>
                <a:hlinkClick r:id="rId3"/>
              </a:rPr>
              <a:t>erik.emotte@comind.fr</a:t>
            </a:r>
            <a:endParaRPr kumimoji="0" sz="1200" i="0" u="sng" strike="noStrike" kern="0" cap="none" spc="0" normalizeH="0" baseline="0" noProof="0" dirty="0">
              <a:ln>
                <a:noFill/>
              </a:ln>
              <a:solidFill>
                <a:srgbClr val="21A7E0"/>
              </a:solidFill>
              <a:effectLst/>
              <a:uLnTx/>
              <a:uFillTx/>
              <a:latin typeface="SF Compact Display" panose="020B0304030202060204" pitchFamily="34" charset="0"/>
              <a:ea typeface="Play"/>
              <a:cs typeface="Play"/>
              <a:sym typeface="Play"/>
              <a:hlinkClick r:id="rId4"/>
            </a:endParaRPr>
          </a:p>
          <a:p>
            <a:pPr marL="0" marR="0" lvl="0" indent="0" algn="ctr" defTabSz="914400" rtl="0" eaLnBrk="1" fontAlgn="auto" latinLnBrk="0" hangingPunct="1">
              <a:lnSpc>
                <a:spcPct val="126111"/>
              </a:lnSpc>
              <a:spcBef>
                <a:spcPts val="600"/>
              </a:spcBef>
              <a:spcAft>
                <a:spcPts val="0"/>
              </a:spcAft>
              <a:buClr>
                <a:srgbClr val="000000"/>
              </a:buClr>
              <a:buSzPts val="1800"/>
              <a:buFont typeface="Arial"/>
              <a:buNone/>
              <a:tabLst/>
              <a:defRPr/>
            </a:pPr>
            <a:r>
              <a:rPr kumimoji="0" lang="fr-FR" sz="1350" i="0" u="none" strike="noStrike" kern="0" cap="none" spc="0" normalizeH="0" baseline="0" noProof="0" dirty="0">
                <a:ln>
                  <a:noFill/>
                </a:ln>
                <a:solidFill>
                  <a:srgbClr val="000000"/>
                </a:solidFill>
                <a:effectLst/>
                <a:uLnTx/>
                <a:uFillTx/>
                <a:latin typeface="SF Compact Display" panose="020B0304030202060204" pitchFamily="34" charset="0"/>
                <a:ea typeface="Play"/>
                <a:cs typeface="Play"/>
                <a:sym typeface="Play"/>
              </a:rPr>
              <a:t> </a:t>
            </a:r>
            <a:endParaRPr kumimoji="0" sz="1050" i="0" u="none" strike="noStrike" kern="0" cap="none" spc="0" normalizeH="0" baseline="0" noProof="0" dirty="0">
              <a:ln>
                <a:noFill/>
              </a:ln>
              <a:solidFill>
                <a:srgbClr val="000000"/>
              </a:solidFill>
              <a:effectLst/>
              <a:uLnTx/>
              <a:uFillTx/>
              <a:latin typeface="SF Compact Display" panose="020B0304030202060204" pitchFamily="34" charset="0"/>
              <a:cs typeface="Arial"/>
              <a:sym typeface="Arial"/>
            </a:endParaRPr>
          </a:p>
        </p:txBody>
      </p:sp>
      <p:sp>
        <p:nvSpPr>
          <p:cNvPr id="490" name="Google Shape;490;p18"/>
          <p:cNvSpPr txBox="1"/>
          <p:nvPr/>
        </p:nvSpPr>
        <p:spPr>
          <a:xfrm>
            <a:off x="4905656" y="3544628"/>
            <a:ext cx="2315203" cy="1168755"/>
          </a:xfrm>
          <a:prstGeom prst="rect">
            <a:avLst/>
          </a:prstGeom>
          <a:noFill/>
          <a:ln>
            <a:noFill/>
          </a:ln>
        </p:spPr>
        <p:txBody>
          <a:bodyPr spcFirstLastPara="1" wrap="square" lIns="74250" tIns="40500" rIns="74250" bIns="40500" anchor="t" anchorCtr="1">
            <a:spAutoFit/>
          </a:bodyPr>
          <a:lstStyle/>
          <a:p>
            <a:pPr marL="0" marR="0" lvl="0" indent="0" algn="ctr" defTabSz="914400" rtl="0" eaLnBrk="1" fontAlgn="auto" latinLnBrk="0" hangingPunct="1">
              <a:lnSpc>
                <a:spcPct val="87307"/>
              </a:lnSpc>
              <a:spcBef>
                <a:spcPts val="0"/>
              </a:spcBef>
              <a:spcAft>
                <a:spcPts val="0"/>
              </a:spcAft>
              <a:buClr>
                <a:srgbClr val="000000"/>
              </a:buClr>
              <a:buSzPts val="2600"/>
              <a:buFont typeface="Arial"/>
              <a:buNone/>
              <a:tabLst/>
              <a:defRPr/>
            </a:pPr>
            <a:endParaRPr kumimoji="0" sz="1950" i="0" u="none" strike="noStrike" kern="0" cap="none" spc="0" normalizeH="0" baseline="0" noProof="0" dirty="0">
              <a:ln>
                <a:noFill/>
              </a:ln>
              <a:solidFill>
                <a:srgbClr val="000000"/>
              </a:solidFill>
              <a:effectLst/>
              <a:uLnTx/>
              <a:uFillTx/>
              <a:latin typeface="SF Compact Display" panose="020B0304030202060204" pitchFamily="34" charset="0"/>
              <a:ea typeface="Play"/>
              <a:cs typeface="Play"/>
              <a:sym typeface="Play"/>
            </a:endParaRPr>
          </a:p>
          <a:p>
            <a:pPr marL="0" marR="0" lvl="0" indent="0" algn="ctr" defTabSz="914400" rtl="0" eaLnBrk="1" fontAlgn="auto" latinLnBrk="0" hangingPunct="1">
              <a:lnSpc>
                <a:spcPct val="100000"/>
              </a:lnSpc>
              <a:spcBef>
                <a:spcPts val="214"/>
              </a:spcBef>
              <a:spcAft>
                <a:spcPts val="0"/>
              </a:spcAft>
              <a:buClr>
                <a:srgbClr val="21A7E0"/>
              </a:buClr>
              <a:buSzPts val="1600"/>
              <a:buFont typeface="Arial"/>
              <a:buNone/>
              <a:tabLst/>
              <a:defRPr/>
            </a:pPr>
            <a:r>
              <a:rPr kumimoji="0" lang="fr-FR" sz="1200" i="0" u="none" strike="noStrike" kern="0" cap="none" spc="0" normalizeH="0" baseline="0" noProof="0" dirty="0">
                <a:ln>
                  <a:noFill/>
                </a:ln>
                <a:solidFill>
                  <a:srgbClr val="2AA7DA"/>
                </a:solidFill>
                <a:effectLst/>
                <a:uLnTx/>
                <a:uFillTx/>
                <a:latin typeface="SF Compact Display" panose="020B0304030202060204" pitchFamily="34" charset="0"/>
                <a:ea typeface="Play"/>
                <a:cs typeface="Play"/>
                <a:sym typeface="Play"/>
              </a:rPr>
              <a:t>Frédéric REMAUD</a:t>
            </a:r>
            <a:endParaRPr kumimoji="0" sz="1050" i="0" u="none" strike="noStrike" kern="0" cap="none" spc="0" normalizeH="0" baseline="0" noProof="0" dirty="0">
              <a:ln>
                <a:noFill/>
              </a:ln>
              <a:solidFill>
                <a:srgbClr val="2AA7DA"/>
              </a:solidFill>
              <a:effectLst/>
              <a:uLnTx/>
              <a:uFillTx/>
              <a:latin typeface="SF Compact Display" panose="020B0304030202060204" pitchFamily="34" charset="0"/>
              <a:cs typeface="Arial"/>
              <a:sym typeface="Arial"/>
            </a:endParaRPr>
          </a:p>
          <a:p>
            <a:pPr marL="0" marR="0" lvl="0" indent="0" algn="ctr" defTabSz="914400" rtl="0" eaLnBrk="1" fontAlgn="auto" latinLnBrk="0" hangingPunct="1">
              <a:lnSpc>
                <a:spcPct val="150000"/>
              </a:lnSpc>
              <a:spcBef>
                <a:spcPts val="600"/>
              </a:spcBef>
              <a:spcAft>
                <a:spcPts val="0"/>
              </a:spcAft>
              <a:buClr>
                <a:srgbClr val="000000"/>
              </a:buClr>
              <a:buSzPts val="1600"/>
              <a:buFont typeface="Arial"/>
              <a:buNone/>
              <a:tabLst/>
              <a:defRPr/>
            </a:pPr>
            <a:r>
              <a:rPr kumimoji="0" lang="fr-FR" sz="1200" i="0" u="none" strike="noStrike" kern="0" cap="none" spc="0" normalizeH="0" baseline="0" noProof="0" dirty="0">
                <a:ln>
                  <a:noFill/>
                </a:ln>
                <a:solidFill>
                  <a:srgbClr val="000000"/>
                </a:solidFill>
                <a:effectLst/>
                <a:uLnTx/>
                <a:uFillTx/>
                <a:latin typeface="SF Compact Display" panose="020B0304030202060204" pitchFamily="34" charset="0"/>
                <a:ea typeface="Play"/>
                <a:cs typeface="Play"/>
                <a:sym typeface="Play"/>
              </a:rPr>
              <a:t>06 20 77 36 06</a:t>
            </a:r>
            <a:endParaRPr kumimoji="0" sz="1050" i="0" u="none" strike="noStrike" kern="0" cap="none" spc="0" normalizeH="0" baseline="0" noProof="0" dirty="0">
              <a:ln>
                <a:noFill/>
              </a:ln>
              <a:solidFill>
                <a:srgbClr val="000000"/>
              </a:solidFill>
              <a:effectLst/>
              <a:uLnTx/>
              <a:uFillTx/>
              <a:latin typeface="SF Compact Display" panose="020B0304030202060204" pitchFamily="34" charset="0"/>
              <a:cs typeface="Arial"/>
              <a:sym typeface="Arial"/>
            </a:endParaRPr>
          </a:p>
          <a:p>
            <a:pPr marL="0" marR="0" lvl="0" indent="0" algn="ctr" defTabSz="914400" rtl="0" eaLnBrk="1" fontAlgn="auto" latinLnBrk="0" hangingPunct="1">
              <a:lnSpc>
                <a:spcPct val="100000"/>
              </a:lnSpc>
              <a:spcBef>
                <a:spcPts val="600"/>
              </a:spcBef>
              <a:spcAft>
                <a:spcPts val="0"/>
              </a:spcAft>
              <a:buClr>
                <a:srgbClr val="21A7E0"/>
              </a:buClr>
              <a:buSzPts val="1600"/>
              <a:buFont typeface="Arial"/>
              <a:buNone/>
              <a:tabLst/>
              <a:defRPr/>
            </a:pPr>
            <a:r>
              <a:rPr kumimoji="0" lang="fr-FR" sz="1200" i="0" u="sng" strike="noStrike" kern="0" cap="none" spc="0" normalizeH="0" baseline="0" noProof="0" dirty="0">
                <a:ln>
                  <a:noFill/>
                </a:ln>
                <a:solidFill>
                  <a:srgbClr val="21A7E0"/>
                </a:solidFill>
                <a:effectLst/>
                <a:uLnTx/>
                <a:uFillTx/>
                <a:latin typeface="SF Compact Display" panose="020B0304030202060204" pitchFamily="34" charset="0"/>
                <a:ea typeface="Play"/>
                <a:cs typeface="Play"/>
                <a:sym typeface="Play"/>
                <a:hlinkClick r:id="rId3"/>
              </a:rPr>
              <a:t>frederic.remaud@comind.fr</a:t>
            </a:r>
            <a:endParaRPr kumimoji="0" sz="1200" i="0" u="sng" strike="noStrike" kern="0" cap="none" spc="0" normalizeH="0" baseline="0" noProof="0" dirty="0">
              <a:ln>
                <a:noFill/>
              </a:ln>
              <a:solidFill>
                <a:srgbClr val="21A7E0"/>
              </a:solidFill>
              <a:effectLst/>
              <a:uLnTx/>
              <a:uFillTx/>
              <a:latin typeface="SF Compact Display" panose="020B0304030202060204" pitchFamily="34" charset="0"/>
              <a:ea typeface="Play"/>
              <a:cs typeface="Play"/>
              <a:sym typeface="Play"/>
            </a:endParaRPr>
          </a:p>
        </p:txBody>
      </p:sp>
      <p:sp>
        <p:nvSpPr>
          <p:cNvPr id="491" name="Google Shape;491;p18"/>
          <p:cNvSpPr txBox="1"/>
          <p:nvPr/>
        </p:nvSpPr>
        <p:spPr>
          <a:xfrm>
            <a:off x="14909" y="2886729"/>
            <a:ext cx="9144000" cy="398207"/>
          </a:xfrm>
          <a:prstGeom prst="rect">
            <a:avLst/>
          </a:prstGeom>
          <a:noFill/>
          <a:ln>
            <a:noFill/>
          </a:ln>
        </p:spPr>
        <p:txBody>
          <a:bodyPr spcFirstLastPara="1" wrap="square" lIns="68569" tIns="34275" rIns="68569" bIns="34275" anchor="b" anchorCtr="0">
            <a:noAutofit/>
          </a:bodyPr>
          <a:lstStyle/>
          <a:p>
            <a:pPr marL="0" marR="0" lvl="0" indent="0" algn="ctr" defTabSz="914400" rtl="0" eaLnBrk="1" fontAlgn="auto" latinLnBrk="0" hangingPunct="1">
              <a:lnSpc>
                <a:spcPct val="90000"/>
              </a:lnSpc>
              <a:spcBef>
                <a:spcPts val="0"/>
              </a:spcBef>
              <a:spcAft>
                <a:spcPts val="0"/>
              </a:spcAft>
              <a:buClr>
                <a:srgbClr val="21A7E0"/>
              </a:buClr>
              <a:buSzPts val="2000"/>
              <a:buFont typeface="Arial"/>
              <a:buNone/>
              <a:tabLst/>
              <a:defRPr/>
            </a:pPr>
            <a:r>
              <a:rPr kumimoji="0" lang="fr-FR" sz="1500" b="0" i="0" u="none" strike="noStrike" kern="0" cap="none" spc="0" normalizeH="0" baseline="0" noProof="0" dirty="0">
                <a:ln>
                  <a:noFill/>
                </a:ln>
                <a:solidFill>
                  <a:srgbClr val="2AA7DA"/>
                </a:solidFill>
                <a:effectLst/>
                <a:uLnTx/>
                <a:uFillTx/>
                <a:latin typeface="SF Compact Display" panose="020B0304030202060204" pitchFamily="34" charset="0"/>
                <a:ea typeface="Play"/>
                <a:cs typeface="Play"/>
                <a:sym typeface="Play"/>
              </a:rPr>
              <a:t>Collaborative </a:t>
            </a:r>
            <a:r>
              <a:rPr kumimoji="0" lang="fr-FR" sz="1500" b="0" i="0" u="none" strike="noStrike" kern="0" cap="none" spc="0" normalizeH="0" baseline="0" noProof="0" dirty="0" err="1">
                <a:ln>
                  <a:noFill/>
                </a:ln>
                <a:solidFill>
                  <a:srgbClr val="2AA7DA"/>
                </a:solidFill>
                <a:effectLst/>
                <a:uLnTx/>
                <a:uFillTx/>
                <a:latin typeface="SF Compact Display" panose="020B0304030202060204" pitchFamily="34" charset="0"/>
                <a:ea typeface="Play"/>
                <a:cs typeface="Play"/>
                <a:sym typeface="Play"/>
              </a:rPr>
              <a:t>mindset</a:t>
            </a:r>
            <a:endParaRPr kumimoji="0" sz="1050" b="0" i="0" u="none" strike="noStrike" kern="0" cap="none" spc="0" normalizeH="0" baseline="0" noProof="0" dirty="0">
              <a:ln>
                <a:noFill/>
              </a:ln>
              <a:solidFill>
                <a:srgbClr val="2AA7DA"/>
              </a:solidFill>
              <a:effectLst/>
              <a:uLnTx/>
              <a:uFillTx/>
              <a:latin typeface="SF Compact Display" panose="020B0304030202060204" pitchFamily="34" charset="0"/>
              <a:cs typeface="Arial"/>
              <a:sym typeface="Arial"/>
            </a:endParaRPr>
          </a:p>
        </p:txBody>
      </p:sp>
      <p:sp>
        <p:nvSpPr>
          <p:cNvPr id="493" name="Google Shape;493;p18"/>
          <p:cNvSpPr txBox="1"/>
          <p:nvPr/>
        </p:nvSpPr>
        <p:spPr>
          <a:xfrm>
            <a:off x="0" y="6210396"/>
            <a:ext cx="9158909" cy="163896"/>
          </a:xfrm>
          <a:prstGeom prst="rect">
            <a:avLst/>
          </a:prstGeom>
          <a:noFill/>
          <a:ln>
            <a:noFill/>
          </a:ln>
        </p:spPr>
        <p:txBody>
          <a:bodyPr spcFirstLastPara="1" wrap="square" lIns="68569" tIns="34275" rIns="68569" bIns="34275" anchor="b" anchorCtr="0">
            <a:noAutofit/>
          </a:bodyPr>
          <a:lstStyle/>
          <a:p>
            <a:pPr marL="0" marR="0" lvl="0" indent="0" algn="ctr" defTabSz="914400" rtl="0" eaLnBrk="1" fontAlgn="auto" latinLnBrk="0" hangingPunct="1">
              <a:lnSpc>
                <a:spcPct val="130000"/>
              </a:lnSpc>
              <a:spcBef>
                <a:spcPts val="0"/>
              </a:spcBef>
              <a:spcAft>
                <a:spcPts val="0"/>
              </a:spcAft>
              <a:buClr>
                <a:srgbClr val="000000"/>
              </a:buClr>
              <a:buSzPts val="900"/>
              <a:buFont typeface="Arial"/>
              <a:buNone/>
              <a:tabLst/>
              <a:defRPr/>
            </a:pPr>
            <a:r>
              <a:rPr kumimoji="0" lang="fr-FR" sz="675" b="0" i="0" u="none" strike="noStrike" kern="0" cap="none" spc="0" normalizeH="0" baseline="0" noProof="0" dirty="0">
                <a:ln>
                  <a:noFill/>
                </a:ln>
                <a:solidFill>
                  <a:srgbClr val="000000"/>
                </a:solidFill>
                <a:effectLst/>
                <a:uLnTx/>
                <a:uFillTx/>
                <a:latin typeface="SF Compact Display" panose="020B0304030202060204" pitchFamily="34" charset="0"/>
                <a:ea typeface="Play"/>
                <a:cs typeface="Play"/>
                <a:sym typeface="Play"/>
              </a:rPr>
              <a:t>©</a:t>
            </a:r>
            <a:r>
              <a:rPr kumimoji="0" lang="fr-FR" sz="750" b="0" i="0" u="none" strike="noStrike" kern="0" cap="none" spc="0" normalizeH="0" baseline="0" noProof="0" dirty="0">
                <a:ln>
                  <a:noFill/>
                </a:ln>
                <a:solidFill>
                  <a:srgbClr val="000000"/>
                </a:solidFill>
                <a:effectLst/>
                <a:uLnTx/>
                <a:uFillTx/>
                <a:latin typeface="SF Compact Display" panose="020B0304030202060204" pitchFamily="34" charset="0"/>
                <a:ea typeface="Play"/>
                <a:cs typeface="Play"/>
                <a:sym typeface="Play"/>
              </a:rPr>
              <a:t> Copyright – All </a:t>
            </a:r>
            <a:r>
              <a:rPr kumimoji="0" lang="fr-FR" sz="750" b="0" i="0" u="none" strike="noStrike" kern="0" cap="none" spc="0" normalizeH="0" baseline="0" noProof="0" dirty="0" err="1">
                <a:ln>
                  <a:noFill/>
                </a:ln>
                <a:solidFill>
                  <a:srgbClr val="000000"/>
                </a:solidFill>
                <a:effectLst/>
                <a:uLnTx/>
                <a:uFillTx/>
                <a:latin typeface="SF Compact Display" panose="020B0304030202060204" pitchFamily="34" charset="0"/>
                <a:ea typeface="Play"/>
                <a:cs typeface="Play"/>
                <a:sym typeface="Play"/>
              </a:rPr>
              <a:t>rights</a:t>
            </a:r>
            <a:r>
              <a:rPr kumimoji="0" lang="fr-FR" sz="750" b="0" i="0" u="none" strike="noStrike" kern="0" cap="none" spc="0" normalizeH="0" baseline="0" noProof="0" dirty="0">
                <a:ln>
                  <a:noFill/>
                </a:ln>
                <a:solidFill>
                  <a:srgbClr val="000000"/>
                </a:solidFill>
                <a:effectLst/>
                <a:uLnTx/>
                <a:uFillTx/>
                <a:latin typeface="SF Compact Display" panose="020B0304030202060204" pitchFamily="34" charset="0"/>
                <a:ea typeface="Play"/>
                <a:cs typeface="Play"/>
                <a:sym typeface="Play"/>
              </a:rPr>
              <a:t> </a:t>
            </a:r>
            <a:r>
              <a:rPr kumimoji="0" lang="fr-FR" sz="750" b="0" i="0" u="none" strike="noStrike" kern="0" cap="none" spc="0" normalizeH="0" baseline="0" noProof="0" dirty="0" err="1">
                <a:ln>
                  <a:noFill/>
                </a:ln>
                <a:solidFill>
                  <a:srgbClr val="000000"/>
                </a:solidFill>
                <a:effectLst/>
                <a:uLnTx/>
                <a:uFillTx/>
                <a:latin typeface="SF Compact Display" panose="020B0304030202060204" pitchFamily="34" charset="0"/>
                <a:ea typeface="Play"/>
                <a:cs typeface="Play"/>
                <a:sym typeface="Play"/>
              </a:rPr>
              <a:t>reserved</a:t>
            </a:r>
            <a:endParaRPr kumimoji="0" sz="750" b="0" i="0" u="none" strike="noStrike" kern="0" cap="none" spc="0" normalizeH="0" baseline="0" noProof="0" dirty="0">
              <a:ln>
                <a:noFill/>
              </a:ln>
              <a:solidFill>
                <a:srgbClr val="000000"/>
              </a:solidFill>
              <a:effectLst/>
              <a:uLnTx/>
              <a:uFillTx/>
              <a:latin typeface="SF Compact Display" panose="020B0304030202060204" pitchFamily="34" charset="0"/>
              <a:ea typeface="Play"/>
              <a:cs typeface="Play"/>
              <a:sym typeface="Play"/>
            </a:endParaRPr>
          </a:p>
        </p:txBody>
      </p:sp>
      <p:pic>
        <p:nvPicPr>
          <p:cNvPr id="2" name="Image 1">
            <a:extLst>
              <a:ext uri="{FF2B5EF4-FFF2-40B4-BE49-F238E27FC236}">
                <a16:creationId xmlns:a16="http://schemas.microsoft.com/office/drawing/2014/main" id="{E07A180D-8432-41B7-B270-9B7E4EEC93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71626" y="2264772"/>
            <a:ext cx="638581" cy="639659"/>
          </a:xfrm>
          <a:prstGeom prst="rect">
            <a:avLst/>
          </a:prstGeom>
        </p:spPr>
      </p:pic>
      <p:sp>
        <p:nvSpPr>
          <p:cNvPr id="11" name="Google Shape;492;p18">
            <a:extLst>
              <a:ext uri="{FF2B5EF4-FFF2-40B4-BE49-F238E27FC236}">
                <a16:creationId xmlns:a16="http://schemas.microsoft.com/office/drawing/2014/main" id="{E7C27AE1-BD5A-4EFB-B329-A8E9EA00DD2F}"/>
              </a:ext>
            </a:extLst>
          </p:cNvPr>
          <p:cNvSpPr txBox="1"/>
          <p:nvPr/>
        </p:nvSpPr>
        <p:spPr>
          <a:xfrm>
            <a:off x="0" y="6279446"/>
            <a:ext cx="9144000" cy="307948"/>
          </a:xfrm>
          <a:prstGeom prst="rect">
            <a:avLst/>
          </a:prstGeom>
          <a:noFill/>
          <a:ln>
            <a:noFill/>
          </a:ln>
        </p:spPr>
        <p:txBody>
          <a:bodyPr spcFirstLastPara="1" wrap="square" lIns="68569" tIns="34275" rIns="68569" bIns="34275" anchor="b" anchorCtr="0">
            <a:noAutofit/>
          </a:bodyPr>
          <a:lstStyle/>
          <a:p>
            <a:pPr marL="0" marR="0" lvl="0" indent="0" algn="ctr" defTabSz="914400" rtl="0" eaLnBrk="1" fontAlgn="auto" latinLnBrk="0" hangingPunct="1">
              <a:lnSpc>
                <a:spcPct val="114000"/>
              </a:lnSpc>
              <a:spcBef>
                <a:spcPts val="0"/>
              </a:spcBef>
              <a:spcAft>
                <a:spcPts val="0"/>
              </a:spcAft>
              <a:buClr>
                <a:srgbClr val="000000"/>
              </a:buClr>
              <a:buSzPts val="700"/>
              <a:buFont typeface="Arial"/>
              <a:buNone/>
              <a:tabLst/>
              <a:defRPr/>
            </a:pPr>
            <a:r>
              <a:rPr kumimoji="0" lang="fr-FR" sz="525" b="0" i="0" u="none" strike="noStrike" kern="0" cap="none" spc="0" normalizeH="0" baseline="0" noProof="0" dirty="0">
                <a:ln>
                  <a:noFill/>
                </a:ln>
                <a:solidFill>
                  <a:srgbClr val="000000"/>
                </a:solidFill>
                <a:effectLst/>
                <a:uLnTx/>
                <a:uFillTx/>
                <a:latin typeface="SF Compact Display" panose="020B0304030202060204" pitchFamily="34" charset="0"/>
                <a:ea typeface="Play"/>
                <a:cs typeface="Play"/>
                <a:sym typeface="Play"/>
              </a:rPr>
              <a:t>Ce document est la propriété exclusive de Frédéric </a:t>
            </a:r>
            <a:r>
              <a:rPr kumimoji="0" lang="fr-FR" sz="525" b="0" i="0" u="none" strike="noStrike" kern="0" cap="none" spc="0" normalizeH="0" baseline="0" noProof="0" dirty="0" err="1">
                <a:ln>
                  <a:noFill/>
                </a:ln>
                <a:solidFill>
                  <a:srgbClr val="000000"/>
                </a:solidFill>
                <a:effectLst/>
                <a:uLnTx/>
                <a:uFillTx/>
                <a:latin typeface="SF Compact Display" panose="020B0304030202060204" pitchFamily="34" charset="0"/>
                <a:ea typeface="Play"/>
                <a:cs typeface="Play"/>
                <a:sym typeface="Play"/>
              </a:rPr>
              <a:t>Remaud</a:t>
            </a:r>
            <a:r>
              <a:rPr kumimoji="0" lang="fr-FR" sz="525" b="0" i="0" u="none" strike="noStrike" kern="0" cap="none" spc="0" normalizeH="0" baseline="0" noProof="0" dirty="0">
                <a:ln>
                  <a:noFill/>
                </a:ln>
                <a:solidFill>
                  <a:srgbClr val="000000"/>
                </a:solidFill>
                <a:effectLst/>
                <a:uLnTx/>
                <a:uFillTx/>
                <a:latin typeface="SF Compact Display" panose="020B0304030202060204" pitchFamily="34" charset="0"/>
                <a:ea typeface="Play"/>
                <a:cs typeface="Play"/>
                <a:sym typeface="Play"/>
              </a:rPr>
              <a:t> domicilié au 27, rue du Vieux Faubourg 59800 Lille de Erik Emotte domicilié au 47, boulevard de Montalembert, 59493 Villeneuve d’Ascq.</a:t>
            </a:r>
          </a:p>
          <a:p>
            <a:pPr marL="0" marR="0" lvl="0" indent="0" algn="ctr" defTabSz="914400" rtl="0" eaLnBrk="1" fontAlgn="auto" latinLnBrk="0" hangingPunct="1">
              <a:lnSpc>
                <a:spcPct val="114000"/>
              </a:lnSpc>
              <a:spcBef>
                <a:spcPts val="0"/>
              </a:spcBef>
              <a:spcAft>
                <a:spcPts val="0"/>
              </a:spcAft>
              <a:buClr>
                <a:srgbClr val="000000"/>
              </a:buClr>
              <a:buSzPts val="700"/>
              <a:buFont typeface="Arial"/>
              <a:buNone/>
              <a:tabLst/>
              <a:defRPr/>
            </a:pPr>
            <a:r>
              <a:rPr kumimoji="0" lang="fr-FR" sz="525" b="0" i="0" u="none" strike="noStrike" kern="0" cap="none" spc="0" normalizeH="0" baseline="0" noProof="0" dirty="0">
                <a:ln>
                  <a:noFill/>
                </a:ln>
                <a:solidFill>
                  <a:srgbClr val="000000"/>
                </a:solidFill>
                <a:effectLst/>
                <a:uLnTx/>
                <a:uFillTx/>
                <a:latin typeface="SF Compact Display" panose="020B0304030202060204" pitchFamily="34" charset="0"/>
                <a:ea typeface="Play"/>
                <a:cs typeface="Play"/>
                <a:sym typeface="Play"/>
              </a:rPr>
              <a:t>Il ne peut être communiqué à des tiers sans leur autorisation. Fait à Villeneuve d'Ascq le 11/11/2021.</a:t>
            </a:r>
            <a:endParaRPr kumimoji="0" sz="1050" b="0" i="0" u="none" strike="noStrike" kern="0" cap="none" spc="0" normalizeH="0" baseline="0" noProof="0" dirty="0">
              <a:ln>
                <a:noFill/>
              </a:ln>
              <a:solidFill>
                <a:srgbClr val="000000"/>
              </a:solidFill>
              <a:effectLst/>
              <a:uLnTx/>
              <a:uFillTx/>
              <a:latin typeface="SF Compact Display" panose="020B0304030202060204" pitchFamily="34" charset="0"/>
              <a:cs typeface="Arial"/>
              <a:sym typeface="Arial"/>
            </a:endParaRPr>
          </a:p>
        </p:txBody>
      </p:sp>
      <p:pic>
        <p:nvPicPr>
          <p:cNvPr id="3" name="Image 2">
            <a:extLst>
              <a:ext uri="{FF2B5EF4-FFF2-40B4-BE49-F238E27FC236}">
                <a16:creationId xmlns:a16="http://schemas.microsoft.com/office/drawing/2014/main" id="{0BB6D1D3-A8EC-510A-A9E2-FD16F3B969E6}"/>
              </a:ext>
            </a:extLst>
          </p:cNvPr>
          <p:cNvPicPr>
            <a:picLocks noChangeAspect="1"/>
          </p:cNvPicPr>
          <p:nvPr/>
        </p:nvPicPr>
        <p:blipFill>
          <a:blip r:embed="rId6"/>
          <a:stretch>
            <a:fillRect/>
          </a:stretch>
        </p:blipFill>
        <p:spPr>
          <a:xfrm>
            <a:off x="446839" y="413681"/>
            <a:ext cx="2033837" cy="660739"/>
          </a:xfrm>
          <a:prstGeom prst="rect">
            <a:avLst/>
          </a:prstGeom>
        </p:spPr>
      </p:pic>
    </p:spTree>
  </p:cSld>
  <p:clrMapOvr>
    <a:masterClrMapping/>
  </p:clrMapOvr>
</p:sld>
</file>

<file path=ppt/theme/theme1.xml><?xml version="1.0" encoding="utf-8"?>
<a:theme xmlns:a="http://schemas.openxmlformats.org/drawingml/2006/main" name="Thème Office">
  <a:themeElements>
    <a:clrScheme name="Thème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565</Words>
  <Application>Microsoft Office PowerPoint</Application>
  <PresentationFormat>Affichage à l'écran (4:3)</PresentationFormat>
  <Paragraphs>53</Paragraphs>
  <Slides>7</Slides>
  <Notes>6</Notes>
  <HiddenSlides>4</HiddenSlides>
  <MMClips>0</MMClips>
  <ScaleCrop>false</ScaleCrop>
  <HeadingPairs>
    <vt:vector size="6" baseType="variant">
      <vt:variant>
        <vt:lpstr>Polices utilisées</vt:lpstr>
      </vt:variant>
      <vt:variant>
        <vt:i4>6</vt:i4>
      </vt:variant>
      <vt:variant>
        <vt:lpstr>Thème</vt:lpstr>
      </vt:variant>
      <vt:variant>
        <vt:i4>2</vt:i4>
      </vt:variant>
      <vt:variant>
        <vt:lpstr>Titres des diapositives</vt:lpstr>
      </vt:variant>
      <vt:variant>
        <vt:i4>7</vt:i4>
      </vt:variant>
    </vt:vector>
  </HeadingPairs>
  <TitlesOfParts>
    <vt:vector size="15" baseType="lpstr">
      <vt:lpstr>SF Compact Display</vt:lpstr>
      <vt:lpstr>Calibri</vt:lpstr>
      <vt:lpstr>Arial</vt:lpstr>
      <vt:lpstr>Arimo</vt:lpstr>
      <vt:lpstr>Play</vt:lpstr>
      <vt:lpstr>Arimo Bold</vt:lpstr>
      <vt:lpstr>Thème Office</vt:lpstr>
      <vt:lpstr>1_Thème Office</vt:lpstr>
      <vt:lpstr>Présentation PowerPoint</vt:lpstr>
      <vt:lpstr>Présentation PowerPoint</vt:lpstr>
      <vt:lpstr>Présentation PowerPoint</vt:lpstr>
      <vt:lpstr> </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Emotte</dc:creator>
  <cp:lastModifiedBy>Raphaël GASTALDO</cp:lastModifiedBy>
  <cp:revision>399</cp:revision>
  <dcterms:created xsi:type="dcterms:W3CDTF">2020-10-10T04:46:29Z</dcterms:created>
  <dcterms:modified xsi:type="dcterms:W3CDTF">2025-11-07T16:36:03Z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7e7dfc5-2bf4-4a75-8664-2dc4b3bb1d09_Enabled">
    <vt:lpwstr>true</vt:lpwstr>
  </property>
  <property fmtid="{D5CDD505-2E9C-101B-9397-08002B2CF9AE}" pid="3" name="MSIP_Label_47e7dfc5-2bf4-4a75-8664-2dc4b3bb1d09_SetDate">
    <vt:lpwstr>2025-10-20T08:52:20Z</vt:lpwstr>
  </property>
  <property fmtid="{D5CDD505-2E9C-101B-9397-08002B2CF9AE}" pid="4" name="MSIP_Label_47e7dfc5-2bf4-4a75-8664-2dc4b3bb1d09_Method">
    <vt:lpwstr>Standard</vt:lpwstr>
  </property>
  <property fmtid="{D5CDD505-2E9C-101B-9397-08002B2CF9AE}" pid="5" name="MSIP_Label_47e7dfc5-2bf4-4a75-8664-2dc4b3bb1d09_Name">
    <vt:lpwstr>defa4170-0d19-0005-0004-bc88714345d2</vt:lpwstr>
  </property>
  <property fmtid="{D5CDD505-2E9C-101B-9397-08002B2CF9AE}" pid="6" name="MSIP_Label_47e7dfc5-2bf4-4a75-8664-2dc4b3bb1d09_SiteId">
    <vt:lpwstr>413600cf-bd4e-4c7c-8a61-69e73cddf731</vt:lpwstr>
  </property>
  <property fmtid="{D5CDD505-2E9C-101B-9397-08002B2CF9AE}" pid="7" name="MSIP_Label_47e7dfc5-2bf4-4a75-8664-2dc4b3bb1d09_ActionId">
    <vt:lpwstr>ef94b440-90e9-468e-8d07-1956c5e8d375</vt:lpwstr>
  </property>
  <property fmtid="{D5CDD505-2E9C-101B-9397-08002B2CF9AE}" pid="8" name="MSIP_Label_47e7dfc5-2bf4-4a75-8664-2dc4b3bb1d09_ContentBits">
    <vt:lpwstr>0</vt:lpwstr>
  </property>
  <property fmtid="{D5CDD505-2E9C-101B-9397-08002B2CF9AE}" pid="9" name="MSIP_Label_47e7dfc5-2bf4-4a75-8664-2dc4b3bb1d09_Tag">
    <vt:lpwstr>10, 3, 0, 1</vt:lpwstr>
  </property>
</Properties>
</file>